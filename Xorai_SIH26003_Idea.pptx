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burden, not the tech: 8.8 million Indians aged 60+ live with dementia; the North East has almost no specialist care. Xorai is a tablet that sits in the house. Say the disclaimer out loud before a judge asks — we detect change against a person's own baseline, we never diagnose.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live links are the single highest-scoring element on this slide — hosted PWA, demo video, public repo, Figma. Attach them before export. The ring is the product in one glance; the chevron strip is the data path in one glance.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ordering is the argument: offline sync and the telemetry clock are cross-cutting, so they are built before any game exists. Dhol Bator is built first because it validates the audio clock. If asked why not Next.js: React Server Components plus a service worker make offline unreliable, and this app has zero use for SSR.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Lumosity precedent — it shows we know exactly which claim gets a product fined, and we are refusing to make it. The adherence number is the honest weak point: name it before a judge does, then show the three levers we pull against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primary metric is adherence — sessions completed over sessions offered — not improvement in game scores. Rising scores would mean difficulty is mis-calibrated, not that dementia improved. Say that; it is the line that separates us from every brain-training pitch.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 judge pushes on evidence: the constructs are validated, but our claim is deliberately narrow — change against the person's own baseline. Anything stronger is what got Lumosity fined. The four reference products are the honest competitive map: none of them work offline, in an NER language, in a family's house.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ubmed.ncbi.nlm.nih.gov/36637034/" TargetMode="External"/><Relationship Id="rId4" Type="http://schemas.openxmlformats.org/officeDocument/2006/relationships/hyperlink" Target="https://www.nature.com/articles/s44400-025-00056-6" TargetMode="External"/><Relationship Id="rId5" Type="http://schemas.openxmlformats.org/officeDocument/2006/relationships/hyperlink" Target="https://www.meity.gov.in/documents/act-and-policies/digital-personal-data-protection-rules-2025-gDOxUjMtQWa?pageTitle=Digit" TargetMode="External"/><Relationship Id="rId6" Type="http://schemas.openxmlformats.org/officeDocument/2006/relationships/hyperlink" Target="https://www.ftc.gov/news-events/news/press-releases/2016/01/lumosity-pay-2-million-settle-ftc-deceptive-advertising-charges-its-brain-training-program" TargetMode="Externa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20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0" y="146304"/>
            <a:ext cx="1463040" cy="740664"/>
          </a:xfrm>
          <a:prstGeom prst="rect">
            <a:avLst/>
          </a:prstGeom>
        </p:spPr>
      </p:pic>
      <p:pic>
        <p:nvPicPr>
          <p:cNvPr id="3" name="Image 1" descr="gamos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0" y="1051560"/>
            <a:ext cx="2148840" cy="3584448"/>
          </a:xfrm>
          <a:prstGeom prst="rect">
            <a:avLst/>
          </a:prstGeom>
        </p:spPr>
      </p:pic>
      <p:pic>
        <p:nvPicPr>
          <p:cNvPr id="4" name="Image 2" descr="ic_japi_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4828032"/>
            <a:ext cx="731520" cy="731520"/>
          </a:xfrm>
          <a:prstGeom prst="rect">
            <a:avLst/>
          </a:prstGeom>
        </p:spPr>
      </p:pic>
      <p:pic>
        <p:nvPicPr>
          <p:cNvPr id="5" name="Image 3" descr="ic_dhol_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0" y="4828032"/>
            <a:ext cx="731520" cy="731520"/>
          </a:xfrm>
          <a:prstGeom prst="rect">
            <a:avLst/>
          </a:prstGeom>
        </p:spPr>
      </p:pic>
      <p:pic>
        <p:nvPicPr>
          <p:cNvPr id="6" name="Image 4" descr="ic_bamboo_in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6960" y="4828032"/>
            <a:ext cx="731520" cy="731520"/>
          </a:xfrm>
          <a:prstGeom prst="rect">
            <a:avLst/>
          </a:prstGeom>
        </p:spPr>
      </p:pic>
      <p:pic>
        <p:nvPicPr>
          <p:cNvPr id="7" name="Image 5" descr="ic_rhino_in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35640" y="4828032"/>
            <a:ext cx="731520" cy="731520"/>
          </a:xfrm>
          <a:prstGeom prst="rect">
            <a:avLst/>
          </a:prstGeom>
        </p:spPr>
      </p:pic>
      <p:sp>
        <p:nvSpPr>
          <p:cNvPr id="8" name="Text 0"/>
          <p:cNvSpPr txBox="1"/>
          <p:nvPr/>
        </p:nvSpPr>
        <p:spPr>
          <a:xfrm>
            <a:off x="7863840" y="563270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i="1" dirty="0">
                <a:solidFill>
                  <a:srgbClr val="5E5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gamosa border is the session progress indicator on every patient screen.</a:t>
            </a:r>
            <a:endParaRPr lang="en-US" sz="900" dirty="0"/>
          </a:p>
        </p:txBody>
      </p:sp>
      <p:sp>
        <p:nvSpPr>
          <p:cNvPr id="9" name="Text 1"/>
          <p:cNvSpPr txBox="1"/>
          <p:nvPr/>
        </p:nvSpPr>
        <p:spPr>
          <a:xfrm>
            <a:off x="548640" y="548640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1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</a:t>
            </a:r>
            <a:endParaRPr lang="en-US" sz="3400" dirty="0"/>
          </a:p>
        </p:txBody>
      </p:sp>
      <p:sp>
        <p:nvSpPr>
          <p:cNvPr id="10" name="Text 2"/>
          <p:cNvSpPr txBox="1"/>
          <p:nvPr/>
        </p:nvSpPr>
        <p:spPr>
          <a:xfrm>
            <a:off x="548640" y="16916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B5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ID :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SIH26003</a:t>
            </a:r>
            <a:endParaRPr lang="en-US" sz="1500" dirty="0"/>
          </a:p>
        </p:txBody>
      </p:sp>
      <p:sp>
        <p:nvSpPr>
          <p:cNvPr id="11" name="Text 3"/>
          <p:cNvSpPr txBox="1"/>
          <p:nvPr/>
        </p:nvSpPr>
        <p:spPr>
          <a:xfrm>
            <a:off x="548640" y="219456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B5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Title :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AI-Based Cognitive Gaming and Memory Assistance Platform for Elderly Dementia Patients in the North Eastern Region</a:t>
            </a:r>
            <a:endParaRPr lang="en-US" sz="1500" dirty="0"/>
          </a:p>
        </p:txBody>
      </p:sp>
      <p:sp>
        <p:nvSpPr>
          <p:cNvPr id="12" name="Text 4"/>
          <p:cNvSpPr txBox="1"/>
          <p:nvPr/>
        </p:nvSpPr>
        <p:spPr>
          <a:xfrm>
            <a:off x="548640" y="306324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B5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: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MedTech / BioTech / HealthTech</a:t>
            </a:r>
            <a:endParaRPr lang="en-US" sz="1500" dirty="0"/>
          </a:p>
        </p:txBody>
      </p:sp>
      <p:sp>
        <p:nvSpPr>
          <p:cNvPr id="13" name="Text 5"/>
          <p:cNvSpPr txBox="1"/>
          <p:nvPr/>
        </p:nvSpPr>
        <p:spPr>
          <a:xfrm>
            <a:off x="548640" y="352044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B5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Category :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Software</a:t>
            </a:r>
            <a:endParaRPr lang="en-US" sz="1500" dirty="0"/>
          </a:p>
        </p:txBody>
      </p:sp>
      <p:sp>
        <p:nvSpPr>
          <p:cNvPr id="14" name="Text 6"/>
          <p:cNvSpPr txBox="1"/>
          <p:nvPr/>
        </p:nvSpPr>
        <p:spPr>
          <a:xfrm>
            <a:off x="548640" y="397764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B5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 :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____________</a:t>
            </a:r>
            <a:endParaRPr lang="en-US" sz="1500" dirty="0"/>
          </a:p>
        </p:txBody>
      </p:sp>
      <p:sp>
        <p:nvSpPr>
          <p:cNvPr id="15" name="Text 7"/>
          <p:cNvSpPr txBox="1"/>
          <p:nvPr/>
        </p:nvSpPr>
        <p:spPr>
          <a:xfrm>
            <a:off x="548640" y="443484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B5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: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Overfitters Anonymous</a:t>
            </a:r>
            <a:endParaRPr lang="en-US" sz="1500" dirty="0"/>
          </a:p>
        </p:txBody>
      </p:sp>
      <p:sp>
        <p:nvSpPr>
          <p:cNvPr id="16" name="Text 8"/>
          <p:cNvSpPr txBox="1"/>
          <p:nvPr/>
        </p:nvSpPr>
        <p:spPr>
          <a:xfrm>
            <a:off x="548640" y="5029200"/>
            <a:ext cx="6309360" cy="457200"/>
          </a:xfrm>
          <a:prstGeom prst="roundRect">
            <a:avLst>
              <a:gd name="adj" fmla="val 10000"/>
            </a:avLst>
          </a:prstGeom>
          <a:solidFill>
            <a:srgbClr val="EFE9DE"/>
          </a:solidFill>
          <a:ln w="19050">
            <a:solidFill>
              <a:srgbClr val="A0731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name:  XORAI  —  the brass bowl offered to an elder</a:t>
            </a:r>
            <a:endParaRPr lang="en-US" sz="1200" dirty="0"/>
          </a:p>
        </p:txBody>
      </p:sp>
      <p:sp>
        <p:nvSpPr>
          <p:cNvPr id="17" name="Text 9"/>
          <p:cNvSpPr txBox="1"/>
          <p:nvPr/>
        </p:nvSpPr>
        <p:spPr>
          <a:xfrm>
            <a:off x="548640" y="55961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5E5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Development of North Eastern Region (MDoNER)   ·   Submission: 20 September 2026</a:t>
            </a:r>
            <a:endParaRPr lang="en-US" sz="1000" dirty="0"/>
          </a:p>
        </p:txBody>
      </p:sp>
      <p:sp>
        <p:nvSpPr>
          <p:cNvPr id="18" name="Text 10"/>
          <p:cNvSpPr txBox="1"/>
          <p:nvPr/>
        </p:nvSpPr>
        <p:spPr>
          <a:xfrm>
            <a:off x="548640" y="6035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i="1" dirty="0">
                <a:solidFill>
                  <a:srgbClr val="5E5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Xorai is not a diagnostic tool. It does not diagnose, stage or treat dementia. It provides cognitive engagement activities and shows changes in performance over time. Any concern about a person's memory or thinking should be discussed with a qualified doctor.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65176"/>
            <a:ext cx="585216" cy="585216"/>
          </a:xfrm>
          <a:prstGeom prst="ellipse">
            <a:avLst/>
          </a:prstGeom>
          <a:solidFill>
            <a:srgbClr val="1F3D2E"/>
          </a:solidFill>
          <a:ln w="12700">
            <a:solidFill>
              <a:srgbClr val="1F3D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26517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E9D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060704" y="237744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TITLE</a:t>
            </a:r>
            <a:endParaRPr lang="en-US" sz="2600" dirty="0"/>
          </a:p>
        </p:txBody>
      </p:sp>
      <p:pic>
        <p:nvPicPr>
          <p:cNvPr id="5" name="Image 0" descr="ic_japi_br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35824" y="292608"/>
            <a:ext cx="530352" cy="53035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357616" y="29260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5E5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Overfitters Anonymous</a:t>
            </a:r>
            <a:endParaRPr lang="en-US" sz="1150" dirty="0"/>
          </a:p>
        </p:txBody>
      </p:sp>
      <p:pic>
        <p:nvPicPr>
          <p:cNvPr id="7" name="Image 1" descr="logo_202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146304"/>
            <a:ext cx="1463040" cy="74066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14400" y="1412748"/>
            <a:ext cx="4206240" cy="3255264"/>
          </a:xfrm>
          <a:prstGeom prst="ellipse">
            <a:avLst/>
          </a:prstGeom>
          <a:solidFill>
            <a:srgbClr val="FFFFFF">
              <a:alpha val="0"/>
            </a:srgbClr>
          </a:solidFill>
          <a:ln w="139700">
            <a:solidFill>
              <a:srgbClr val="E2D9C9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2240280" y="2697480"/>
            <a:ext cx="1554480" cy="685800"/>
          </a:xfrm>
          <a:prstGeom prst="roundRect">
            <a:avLst>
              <a:gd name="adj" fmla="val 6667"/>
            </a:avLst>
          </a:prstGeom>
          <a:solidFill>
            <a:srgbClr val="23201B"/>
          </a:solidFill>
          <a:ln w="12700">
            <a:solidFill>
              <a:srgbClr val="23201B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900" b="1" dirty="0">
                <a:solidFill>
                  <a:srgbClr val="E9D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XORAI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2331720" y="1161288"/>
            <a:ext cx="1371600" cy="502920"/>
          </a:xfrm>
          <a:prstGeom prst="roundRect">
            <a:avLst>
              <a:gd name="adj" fmla="val 9091"/>
            </a:avLst>
          </a:prstGeom>
          <a:solidFill>
            <a:srgbClr val="D6E0D4"/>
          </a:solidFill>
          <a:ln w="9525">
            <a:solidFill>
              <a:srgbClr val="1F3D2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PWA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3818534" y="1637690"/>
            <a:ext cx="1371600" cy="502920"/>
          </a:xfrm>
          <a:prstGeom prst="roundRect">
            <a:avLst>
              <a:gd name="adj" fmla="val 9091"/>
            </a:avLst>
          </a:prstGeom>
          <a:solidFill>
            <a:srgbClr val="D6E0D4"/>
          </a:solidFill>
          <a:ln w="9525">
            <a:solidFill>
              <a:srgbClr val="1F3D2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Voice-led, no literacy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4434840" y="2788920"/>
            <a:ext cx="1371600" cy="502920"/>
          </a:xfrm>
          <a:prstGeom prst="roundRect">
            <a:avLst>
              <a:gd name="adj" fmla="val 9091"/>
            </a:avLst>
          </a:prstGeom>
          <a:solidFill>
            <a:srgbClr val="D6E0D4"/>
          </a:solidFill>
          <a:ln w="9525">
            <a:solidFill>
              <a:srgbClr val="1F3D2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cultural games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3818534" y="3940150"/>
            <a:ext cx="1371600" cy="502920"/>
          </a:xfrm>
          <a:prstGeom prst="roundRect">
            <a:avLst>
              <a:gd name="adj" fmla="val 9091"/>
            </a:avLst>
          </a:prstGeom>
          <a:solidFill>
            <a:srgbClr val="D6E0D4"/>
          </a:solidFill>
          <a:ln w="9525">
            <a:solidFill>
              <a:srgbClr val="1F3D2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Errorless by design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2331720" y="4416552"/>
            <a:ext cx="1371600" cy="502920"/>
          </a:xfrm>
          <a:prstGeom prst="roundRect">
            <a:avLst>
              <a:gd name="adj" fmla="val 9091"/>
            </a:avLst>
          </a:prstGeom>
          <a:solidFill>
            <a:srgbClr val="D6E0D4"/>
          </a:solidFill>
          <a:ln w="9525">
            <a:solidFill>
              <a:srgbClr val="1F3D2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baseline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844906" y="3940150"/>
            <a:ext cx="1371600" cy="502920"/>
          </a:xfrm>
          <a:prstGeom prst="roundRect">
            <a:avLst>
              <a:gd name="adj" fmla="val 9091"/>
            </a:avLst>
          </a:prstGeom>
          <a:solidFill>
            <a:srgbClr val="D6E0D4"/>
          </a:solidFill>
          <a:ln w="9525">
            <a:solidFill>
              <a:srgbClr val="1F3D2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 dashboard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228600" y="2788920"/>
            <a:ext cx="1371600" cy="502920"/>
          </a:xfrm>
          <a:prstGeom prst="roundRect">
            <a:avLst>
              <a:gd name="adj" fmla="val 9091"/>
            </a:avLst>
          </a:prstGeom>
          <a:solidFill>
            <a:srgbClr val="D6E0D4"/>
          </a:solidFill>
          <a:ln w="9525">
            <a:solidFill>
              <a:srgbClr val="1F3D2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NER languages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844906" y="1637690"/>
            <a:ext cx="1371600" cy="502920"/>
          </a:xfrm>
          <a:prstGeom prst="roundRect">
            <a:avLst>
              <a:gd name="adj" fmla="val 9091"/>
            </a:avLst>
          </a:prstGeom>
          <a:solidFill>
            <a:srgbClr val="D6E0D4"/>
          </a:solidFill>
          <a:ln w="9525">
            <a:solidFill>
              <a:srgbClr val="1F3D2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assistance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274320" y="5074920"/>
            <a:ext cx="960120" cy="502920"/>
          </a:xfrm>
          <a:prstGeom prst="chevron">
            <a:avLst/>
          </a:prstGeom>
          <a:solidFill>
            <a:srgbClr val="EFE9DE"/>
          </a:solidFill>
          <a:ln w="9525">
            <a:solidFill>
              <a:srgbClr val="A073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</a:t>
            </a:r>
            <a:endParaRPr lang="en-US" sz="800" dirty="0"/>
          </a:p>
        </p:txBody>
      </p:sp>
      <p:sp>
        <p:nvSpPr>
          <p:cNvPr id="19" name="Text 15"/>
          <p:cNvSpPr txBox="1"/>
          <p:nvPr/>
        </p:nvSpPr>
        <p:spPr>
          <a:xfrm>
            <a:off x="1188720" y="5074920"/>
            <a:ext cx="960120" cy="502920"/>
          </a:xfrm>
          <a:prstGeom prst="chevron">
            <a:avLst/>
          </a:prstGeom>
          <a:solidFill>
            <a:srgbClr val="E9D9AE"/>
          </a:solidFill>
          <a:ln w="9525">
            <a:solidFill>
              <a:srgbClr val="A073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Outbox</a:t>
            </a:r>
            <a:endParaRPr lang="en-US" sz="800" dirty="0"/>
          </a:p>
        </p:txBody>
      </p:sp>
      <p:sp>
        <p:nvSpPr>
          <p:cNvPr id="20" name="Text 16"/>
          <p:cNvSpPr txBox="1"/>
          <p:nvPr/>
        </p:nvSpPr>
        <p:spPr>
          <a:xfrm>
            <a:off x="2103120" y="5074920"/>
            <a:ext cx="960120" cy="502920"/>
          </a:xfrm>
          <a:prstGeom prst="chevron">
            <a:avLst/>
          </a:prstGeom>
          <a:solidFill>
            <a:srgbClr val="EFE9DE"/>
          </a:solidFill>
          <a:ln w="9525">
            <a:solidFill>
              <a:srgbClr val="A073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</a:t>
            </a:r>
            <a:endParaRPr lang="en-US" sz="800" dirty="0"/>
          </a:p>
        </p:txBody>
      </p:sp>
      <p:sp>
        <p:nvSpPr>
          <p:cNvPr id="21" name="Text 17"/>
          <p:cNvSpPr txBox="1"/>
          <p:nvPr/>
        </p:nvSpPr>
        <p:spPr>
          <a:xfrm>
            <a:off x="3017520" y="5074920"/>
            <a:ext cx="960120" cy="502920"/>
          </a:xfrm>
          <a:prstGeom prst="chevron">
            <a:avLst/>
          </a:prstGeom>
          <a:solidFill>
            <a:srgbClr val="E9D9AE"/>
          </a:solidFill>
          <a:ln w="9525">
            <a:solidFill>
              <a:srgbClr val="A073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800" dirty="0"/>
          </a:p>
        </p:txBody>
      </p:sp>
      <p:sp>
        <p:nvSpPr>
          <p:cNvPr id="22" name="Text 18"/>
          <p:cNvSpPr txBox="1"/>
          <p:nvPr/>
        </p:nvSpPr>
        <p:spPr>
          <a:xfrm>
            <a:off x="3931920" y="5074920"/>
            <a:ext cx="960120" cy="502920"/>
          </a:xfrm>
          <a:prstGeom prst="chevron">
            <a:avLst/>
          </a:prstGeom>
          <a:solidFill>
            <a:srgbClr val="EFE9DE"/>
          </a:solidFill>
          <a:ln w="9525">
            <a:solidFill>
              <a:srgbClr val="A073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800" dirty="0"/>
          </a:p>
        </p:txBody>
      </p:sp>
      <p:sp>
        <p:nvSpPr>
          <p:cNvPr id="23" name="Text 19"/>
          <p:cNvSpPr txBox="1"/>
          <p:nvPr/>
        </p:nvSpPr>
        <p:spPr>
          <a:xfrm>
            <a:off x="4846320" y="5074920"/>
            <a:ext cx="960120" cy="502920"/>
          </a:xfrm>
          <a:prstGeom prst="chevron">
            <a:avLst/>
          </a:prstGeom>
          <a:solidFill>
            <a:srgbClr val="E9D9AE"/>
          </a:solidFill>
          <a:ln w="9525">
            <a:solidFill>
              <a:srgbClr val="A073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</a:t>
            </a:r>
            <a:endParaRPr lang="en-US" sz="800" dirty="0"/>
          </a:p>
        </p:txBody>
      </p:sp>
      <p:sp>
        <p:nvSpPr>
          <p:cNvPr id="24" name="Text 20"/>
          <p:cNvSpPr txBox="1"/>
          <p:nvPr/>
        </p:nvSpPr>
        <p:spPr>
          <a:xfrm>
            <a:off x="320040" y="576072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i="1" dirty="0">
                <a:solidFill>
                  <a:srgbClr val="5E5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tap is timestamped on a monotonic clock, stored offline first, and compared only against this person's own baseline.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6035040" y="960120"/>
            <a:ext cx="5879592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5875">
            <a:solidFill>
              <a:srgbClr val="E2D9C9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6263640" y="10789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Faced Problems :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6309360" y="1389888"/>
            <a:ext cx="539496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9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b="1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8.8 million Indians aged 60+</a:t>
            </a:r>
            <a:pPr indent="0" marL="0">
              <a:lnSpc>
                <a:spcPct val="95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5E5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live with dementia (7.4%) — rural prevalence runs above urban</a:t>
            </a:r>
            <a:endParaRPr lang="en-US" sz="1050" dirty="0"/>
          </a:p>
          <a:p>
            <a:pPr marL="342900" indent="-342900">
              <a:lnSpc>
                <a:spcPct val="9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b="1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North East has almost no specialist care</a:t>
            </a:r>
            <a:pPr indent="0" marL="0">
              <a:lnSpc>
                <a:spcPct val="95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5E5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few geriatricians, long travel, heavy stigma</a:t>
            </a:r>
            <a:endParaRPr lang="en-US" sz="1050" dirty="0"/>
          </a:p>
          <a:p>
            <a:pPr marL="342900" indent="-342900">
              <a:lnSpc>
                <a:spcPct val="9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b="1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is noticed years late</a:t>
            </a:r>
            <a:pPr indent="0" marL="0">
              <a:lnSpc>
                <a:spcPct val="95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5E5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families act only once it is already severe</a:t>
            </a:r>
            <a:endParaRPr lang="en-US" sz="1050" dirty="0"/>
          </a:p>
          <a:p>
            <a:pPr marL="342900" indent="-342900">
              <a:lnSpc>
                <a:spcPct val="9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b="1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exists in NER languages</a:t>
            </a:r>
            <a:pPr indent="0" marL="0">
              <a:lnSpc>
                <a:spcPct val="95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5E5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most elders cannot read at all</a:t>
            </a:r>
            <a:endParaRPr lang="en-US" sz="1050" dirty="0"/>
          </a:p>
          <a:p>
            <a:pPr marL="342900" indent="-342900">
              <a:lnSpc>
                <a:spcPct val="9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b="1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Hill-district connectivity is unreliable</a:t>
            </a:r>
            <a:pPr indent="0" marL="0">
              <a:lnSpc>
                <a:spcPct val="95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5E5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cloud-only apps simply do not run</a:t>
            </a:r>
            <a:endParaRPr lang="en-US" sz="1050" dirty="0"/>
          </a:p>
          <a:p>
            <a:pPr marL="342900" indent="-342900">
              <a:lnSpc>
                <a:spcPct val="9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b="1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Caregivers arrive at the doctor with nothing</a:t>
            </a:r>
            <a:pPr indent="0" marL="0">
              <a:lnSpc>
                <a:spcPct val="95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5E5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recollection, not a record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6035040" y="3401568"/>
            <a:ext cx="5879592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5875">
            <a:solidFill>
              <a:srgbClr val="E2D9C9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6263640" y="3520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Idea :</a:t>
            </a:r>
            <a:endParaRPr lang="en-US" sz="1400" dirty="0"/>
          </a:p>
        </p:txBody>
      </p:sp>
      <p:sp>
        <p:nvSpPr>
          <p:cNvPr id="30" name="Text 26"/>
          <p:cNvSpPr txBox="1"/>
          <p:nvPr/>
        </p:nvSpPr>
        <p:spPr>
          <a:xfrm>
            <a:off x="6309360" y="3831336"/>
            <a:ext cx="539496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9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b="1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12-minute daily session that never feels like a test</a:t>
            </a:r>
            <a:pPr indent="0" marL="0">
              <a:lnSpc>
                <a:spcPct val="95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5E5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tap-only, voice-led, errorless</a:t>
            </a:r>
            <a:endParaRPr lang="en-US" sz="1050" dirty="0"/>
          </a:p>
          <a:p>
            <a:pPr marL="342900" indent="-342900">
              <a:lnSpc>
                <a:spcPct val="9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b="1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games rooted in the region</a:t>
            </a:r>
            <a:pPr indent="0" marL="0">
              <a:lnSpc>
                <a:spcPct val="95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5E5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kinship faces, dhol rhythm, 1950s objects, clock drawing</a:t>
            </a:r>
            <a:endParaRPr lang="en-US" sz="1050" dirty="0"/>
          </a:p>
          <a:p>
            <a:pPr marL="342900" indent="-342900">
              <a:lnSpc>
                <a:spcPct val="9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b="1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offline</a:t>
            </a:r>
            <a:pPr indent="0" marL="0">
              <a:lnSpc>
                <a:spcPct val="95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5E5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play, voice, reminders and assistance with the network off</a:t>
            </a:r>
            <a:endParaRPr lang="en-US" sz="1050" dirty="0"/>
          </a:p>
          <a:p>
            <a:pPr marL="342900" indent="-342900">
              <a:lnSpc>
                <a:spcPct val="9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b="1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against the person's own baseline</a:t>
            </a:r>
            <a:pPr indent="0" marL="0">
              <a:lnSpc>
                <a:spcPct val="95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5E5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never a population norm — no diagnosis, ever</a:t>
            </a:r>
            <a:endParaRPr lang="en-US" sz="1050" dirty="0"/>
          </a:p>
          <a:p>
            <a:pPr marL="342900" indent="-342900">
              <a:lnSpc>
                <a:spcPct val="9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b="1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assistance half of the problem statement</a:t>
            </a:r>
            <a:pPr indent="0" marL="0">
              <a:lnSpc>
                <a:spcPct val="95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5E5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reminders, family faces, orientation, SOS</a:t>
            </a:r>
            <a:endParaRPr lang="en-US" sz="1050" dirty="0"/>
          </a:p>
          <a:p>
            <a:pPr marL="342900" indent="-342900">
              <a:lnSpc>
                <a:spcPct val="9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b="1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guardian consent under DPDP</a:t>
            </a:r>
            <a:pPr indent="0" marL="0">
              <a:lnSpc>
                <a:spcPct val="95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5E5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data resident in Mumbai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6035040" y="5870448"/>
            <a:ext cx="5879592" cy="804672"/>
          </a:xfrm>
          <a:prstGeom prst="roundRect">
            <a:avLst>
              <a:gd name="adj" fmla="val 6818"/>
            </a:avLst>
          </a:prstGeom>
          <a:solidFill>
            <a:srgbClr val="D6E0D4"/>
          </a:solidFill>
          <a:ln w="25400">
            <a:solidFill>
              <a:srgbClr val="A0731F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6144768" y="59436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u="sng" dirty="0">
                <a:solidFill>
                  <a:srgbClr val="8A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Website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5E5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(click here)</a:t>
            </a:r>
            <a:endParaRPr lang="en-US" sz="1200" dirty="0"/>
          </a:p>
        </p:txBody>
      </p:sp>
      <p:sp>
        <p:nvSpPr>
          <p:cNvPr id="33" name="Text 29"/>
          <p:cNvSpPr txBox="1"/>
          <p:nvPr/>
        </p:nvSpPr>
        <p:spPr>
          <a:xfrm>
            <a:off x="7580376" y="59436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u="sng" dirty="0">
                <a:solidFill>
                  <a:srgbClr val="8A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5E5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(click here)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9015984" y="59436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u="sng" dirty="0">
                <a:solidFill>
                  <a:srgbClr val="8A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5E5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(click here)</a:t>
            </a:r>
            <a:endParaRPr lang="en-US" sz="1200" dirty="0"/>
          </a:p>
        </p:txBody>
      </p:sp>
      <p:sp>
        <p:nvSpPr>
          <p:cNvPr id="35" name="Text 31"/>
          <p:cNvSpPr txBox="1"/>
          <p:nvPr/>
        </p:nvSpPr>
        <p:spPr>
          <a:xfrm>
            <a:off x="10451592" y="59436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u="sng" dirty="0">
                <a:solidFill>
                  <a:srgbClr val="8A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5E5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(click here)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65176"/>
            <a:ext cx="585216" cy="585216"/>
          </a:xfrm>
          <a:prstGeom prst="ellipse">
            <a:avLst/>
          </a:prstGeom>
          <a:solidFill>
            <a:srgbClr val="1F3D2E"/>
          </a:solidFill>
          <a:ln w="12700">
            <a:solidFill>
              <a:srgbClr val="1F3D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26517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E9D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060704" y="237744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2600" dirty="0"/>
          </a:p>
        </p:txBody>
      </p:sp>
      <p:pic>
        <p:nvPicPr>
          <p:cNvPr id="5" name="Image 0" descr="ic_dhol_br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35824" y="292608"/>
            <a:ext cx="530352" cy="53035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357616" y="29260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5E5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Overfitters Anonymous</a:t>
            </a:r>
            <a:endParaRPr lang="en-US" sz="1150" dirty="0"/>
          </a:p>
        </p:txBody>
      </p:sp>
      <p:pic>
        <p:nvPicPr>
          <p:cNvPr id="7" name="Image 1" descr="logo_202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146304"/>
            <a:ext cx="1463040" cy="74066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74320" y="960120"/>
            <a:ext cx="5577840" cy="5715000"/>
          </a:xfrm>
          <a:prstGeom prst="roundRect">
            <a:avLst>
              <a:gd name="adj" fmla="val 984"/>
            </a:avLst>
          </a:prstGeom>
          <a:solidFill>
            <a:srgbClr val="FFFFFF"/>
          </a:solidFill>
          <a:ln w="15875">
            <a:solidFill>
              <a:srgbClr val="E2D9C9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38912" y="10424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daily session (12–15 min)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438912" y="1353312"/>
            <a:ext cx="2331720" cy="384048"/>
          </a:xfrm>
          <a:prstGeom prst="roundRect">
            <a:avLst>
              <a:gd name="adj" fmla="val 11905"/>
            </a:avLst>
          </a:prstGeom>
          <a:solidFill>
            <a:srgbClr val="EFE9DE"/>
          </a:solidFill>
          <a:ln w="9525">
            <a:solidFill>
              <a:srgbClr val="5E514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 signs in · patient taps own photo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1604772" y="1755648"/>
            <a:ext cx="0" cy="128016"/>
          </a:xfrm>
          <a:prstGeom prst="line">
            <a:avLst/>
          </a:prstGeom>
          <a:noFill/>
          <a:ln w="15875">
            <a:solidFill>
              <a:srgbClr val="5E5142"/>
            </a:solidFill>
            <a:prstDash val="solid"/>
            <a:tailEnd type="triangle"/>
          </a:ln>
        </p:spPr>
      </p:sp>
      <p:sp>
        <p:nvSpPr>
          <p:cNvPr id="12" name="Text 8"/>
          <p:cNvSpPr txBox="1"/>
          <p:nvPr/>
        </p:nvSpPr>
        <p:spPr>
          <a:xfrm>
            <a:off x="438912" y="1901952"/>
            <a:ext cx="2331720" cy="384048"/>
          </a:xfrm>
          <a:prstGeom prst="roundRect">
            <a:avLst>
              <a:gd name="adj" fmla="val 11905"/>
            </a:avLst>
          </a:prstGeom>
          <a:solidFill>
            <a:srgbClr val="EFE9DE"/>
          </a:solidFill>
          <a:ln w="9525">
            <a:solidFill>
              <a:srgbClr val="5E514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 warm-up — day, date, place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1604772" y="2304288"/>
            <a:ext cx="0" cy="128016"/>
          </a:xfrm>
          <a:prstGeom prst="line">
            <a:avLst/>
          </a:prstGeom>
          <a:noFill/>
          <a:ln w="15875">
            <a:solidFill>
              <a:srgbClr val="5E5142"/>
            </a:solidFill>
            <a:prstDash val="solid"/>
            <a:tailEnd type="triangle"/>
          </a:ln>
        </p:spPr>
      </p:sp>
      <p:sp>
        <p:nvSpPr>
          <p:cNvPr id="14" name="Text 10"/>
          <p:cNvSpPr txBox="1"/>
          <p:nvPr/>
        </p:nvSpPr>
        <p:spPr>
          <a:xfrm>
            <a:off x="438912" y="2450592"/>
            <a:ext cx="2331720" cy="384048"/>
          </a:xfrm>
          <a:prstGeom prst="roundRect">
            <a:avLst>
              <a:gd name="adj" fmla="val 11905"/>
            </a:avLst>
          </a:prstGeom>
          <a:solidFill>
            <a:srgbClr val="EFE9DE"/>
          </a:solidFill>
          <a:ln w="9525">
            <a:solidFill>
              <a:srgbClr val="5E514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 music from their own youth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1604772" y="2852928"/>
            <a:ext cx="0" cy="128016"/>
          </a:xfrm>
          <a:prstGeom prst="line">
            <a:avLst/>
          </a:prstGeom>
          <a:noFill/>
          <a:ln w="15875">
            <a:solidFill>
              <a:srgbClr val="5E5142"/>
            </a:solidFill>
            <a:prstDash val="solid"/>
            <a:tailEnd type="triangle"/>
          </a:ln>
        </p:spPr>
      </p:sp>
      <p:sp>
        <p:nvSpPr>
          <p:cNvPr id="16" name="Text 12"/>
          <p:cNvSpPr txBox="1"/>
          <p:nvPr/>
        </p:nvSpPr>
        <p:spPr>
          <a:xfrm>
            <a:off x="438912" y="2999232"/>
            <a:ext cx="2331720" cy="384048"/>
          </a:xfrm>
          <a:prstGeom prst="roundRect">
            <a:avLst>
              <a:gd name="adj" fmla="val 11905"/>
            </a:avLst>
          </a:prstGeom>
          <a:solidFill>
            <a:srgbClr val="E9D9AE"/>
          </a:solidFill>
          <a:ln w="9525">
            <a:solidFill>
              <a:srgbClr val="5E514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A  (4–5 min)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1604772" y="3401568"/>
            <a:ext cx="0" cy="128016"/>
          </a:xfrm>
          <a:prstGeom prst="line">
            <a:avLst/>
          </a:prstGeom>
          <a:noFill/>
          <a:ln w="15875">
            <a:solidFill>
              <a:srgbClr val="5E5142"/>
            </a:solidFill>
            <a:prstDash val="solid"/>
            <a:tailEnd type="triangle"/>
          </a:ln>
        </p:spPr>
      </p:sp>
      <p:sp>
        <p:nvSpPr>
          <p:cNvPr id="18" name="Text 14"/>
          <p:cNvSpPr txBox="1"/>
          <p:nvPr/>
        </p:nvSpPr>
        <p:spPr>
          <a:xfrm>
            <a:off x="438912" y="3547872"/>
            <a:ext cx="2331720" cy="384048"/>
          </a:xfrm>
          <a:prstGeom prst="roundRect">
            <a:avLst>
              <a:gd name="adj" fmla="val 11905"/>
            </a:avLst>
          </a:prstGeom>
          <a:solidFill>
            <a:srgbClr val="E9D9AE"/>
          </a:solidFill>
          <a:ln w="9525">
            <a:solidFill>
              <a:srgbClr val="5E514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B  (4–5 min)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1604772" y="3950208"/>
            <a:ext cx="0" cy="128016"/>
          </a:xfrm>
          <a:prstGeom prst="line">
            <a:avLst/>
          </a:prstGeom>
          <a:noFill/>
          <a:ln w="15875">
            <a:solidFill>
              <a:srgbClr val="5E5142"/>
            </a:solidFill>
            <a:prstDash val="solid"/>
            <a:tailEnd type="triangle"/>
          </a:ln>
        </p:spPr>
      </p:sp>
      <p:sp>
        <p:nvSpPr>
          <p:cNvPr id="20" name="Text 16"/>
          <p:cNvSpPr txBox="1"/>
          <p:nvPr/>
        </p:nvSpPr>
        <p:spPr>
          <a:xfrm>
            <a:off x="438912" y="4096512"/>
            <a:ext cx="2331720" cy="384048"/>
          </a:xfrm>
          <a:prstGeom prst="roundRect">
            <a:avLst>
              <a:gd name="adj" fmla="val 11905"/>
            </a:avLst>
          </a:prstGeom>
          <a:solidFill>
            <a:srgbClr val="EFE9DE"/>
          </a:solidFill>
          <a:ln w="9525">
            <a:solidFill>
              <a:srgbClr val="5E514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— family photo + today's reminders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1604772" y="4498848"/>
            <a:ext cx="0" cy="128016"/>
          </a:xfrm>
          <a:prstGeom prst="line">
            <a:avLst/>
          </a:prstGeom>
          <a:noFill/>
          <a:ln w="15875">
            <a:solidFill>
              <a:srgbClr val="5E5142"/>
            </a:solidFill>
            <a:prstDash val="solid"/>
            <a:tailEnd type="triangle"/>
          </a:ln>
        </p:spPr>
      </p:sp>
      <p:sp>
        <p:nvSpPr>
          <p:cNvPr id="22" name="Text 18"/>
          <p:cNvSpPr txBox="1"/>
          <p:nvPr/>
        </p:nvSpPr>
        <p:spPr>
          <a:xfrm>
            <a:off x="438912" y="4645152"/>
            <a:ext cx="2331720" cy="384048"/>
          </a:xfrm>
          <a:prstGeom prst="roundRect">
            <a:avLst>
              <a:gd name="adj" fmla="val 11905"/>
            </a:avLst>
          </a:prstGeom>
          <a:solidFill>
            <a:srgbClr val="EFE9DE"/>
          </a:solidFill>
          <a:ln w="9525">
            <a:solidFill>
              <a:srgbClr val="5E514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bamboo grove grows by one culm</a:t>
            </a:r>
            <a:endParaRPr lang="en-US" sz="800" dirty="0"/>
          </a:p>
        </p:txBody>
      </p:sp>
      <p:sp>
        <p:nvSpPr>
          <p:cNvPr id="23" name="Text 19"/>
          <p:cNvSpPr txBox="1"/>
          <p:nvPr/>
        </p:nvSpPr>
        <p:spPr>
          <a:xfrm>
            <a:off x="2926080" y="10424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games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2926080" y="1353312"/>
            <a:ext cx="2788920" cy="841248"/>
          </a:xfrm>
          <a:prstGeom prst="roundRect">
            <a:avLst>
              <a:gd name="adj" fmla="val 6522"/>
            </a:avLst>
          </a:prstGeom>
          <a:solidFill>
            <a:srgbClr val="EFE9DE"/>
          </a:solidFill>
          <a:ln w="12700">
            <a:solidFill>
              <a:srgbClr val="A0731F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3035808" y="1408176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8A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Aponjon — "Our Own People"</a:t>
            </a:r>
            <a:endParaRPr lang="en-US" sz="850" dirty="0"/>
          </a:p>
        </p:txBody>
      </p:sp>
      <p:sp>
        <p:nvSpPr>
          <p:cNvPr id="26" name="Text 22"/>
          <p:cNvSpPr txBox="1"/>
          <p:nvPr/>
        </p:nvSpPr>
        <p:spPr>
          <a:xfrm>
            <a:off x="3035808" y="16002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Face–name with spaced retrieval; the prompt speaks the local kinship term, not "aunt".</a:t>
            </a:r>
            <a:endParaRPr lang="en-US" sz="750" dirty="0"/>
          </a:p>
        </p:txBody>
      </p:sp>
      <p:sp>
        <p:nvSpPr>
          <p:cNvPr id="27" name="Text 23"/>
          <p:cNvSpPr txBox="1"/>
          <p:nvPr/>
        </p:nvSpPr>
        <p:spPr>
          <a:xfrm>
            <a:off x="3035808" y="199339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1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· language   →  sustained retrieval interval</a:t>
            </a:r>
            <a:endParaRPr lang="en-US" sz="700" dirty="0"/>
          </a:p>
        </p:txBody>
      </p:sp>
      <p:sp>
        <p:nvSpPr>
          <p:cNvPr id="28" name="Shape 24"/>
          <p:cNvSpPr/>
          <p:nvPr/>
        </p:nvSpPr>
        <p:spPr>
          <a:xfrm>
            <a:off x="2926080" y="2295144"/>
            <a:ext cx="2788920" cy="841248"/>
          </a:xfrm>
          <a:prstGeom prst="roundRect">
            <a:avLst>
              <a:gd name="adj" fmla="val 6522"/>
            </a:avLst>
          </a:prstGeom>
          <a:solidFill>
            <a:srgbClr val="EFE9DE"/>
          </a:solidFill>
          <a:ln w="12700">
            <a:solidFill>
              <a:srgbClr val="A0731F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3035808" y="235000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8A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Dhol Bator — "Rhythm Echo"</a:t>
            </a:r>
            <a:endParaRPr lang="en-US" sz="850" dirty="0"/>
          </a:p>
        </p:txBody>
      </p:sp>
      <p:sp>
        <p:nvSpPr>
          <p:cNvPr id="30" name="Text 26"/>
          <p:cNvSpPr txBox="1"/>
          <p:nvPr/>
        </p:nvSpPr>
        <p:spPr>
          <a:xfrm>
            <a:off x="3035808" y="254203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a dhol pattern back. Span 2–7, scheduled and measured on the audio clock.</a:t>
            </a:r>
            <a:endParaRPr lang="en-US" sz="750" dirty="0"/>
          </a:p>
        </p:txBody>
      </p:sp>
      <p:sp>
        <p:nvSpPr>
          <p:cNvPr id="31" name="Text 27"/>
          <p:cNvSpPr txBox="1"/>
          <p:nvPr/>
        </p:nvSpPr>
        <p:spPr>
          <a:xfrm>
            <a:off x="3035808" y="2935224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1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· working memory   →  inter-tap variability</a:t>
            </a:r>
            <a:endParaRPr lang="en-US" sz="700" dirty="0"/>
          </a:p>
        </p:txBody>
      </p:sp>
      <p:sp>
        <p:nvSpPr>
          <p:cNvPr id="32" name="Shape 28"/>
          <p:cNvSpPr/>
          <p:nvPr/>
        </p:nvSpPr>
        <p:spPr>
          <a:xfrm>
            <a:off x="2926080" y="3236976"/>
            <a:ext cx="2788920" cy="841248"/>
          </a:xfrm>
          <a:prstGeom prst="roundRect">
            <a:avLst>
              <a:gd name="adj" fmla="val 6522"/>
            </a:avLst>
          </a:prstGeom>
          <a:solidFill>
            <a:srgbClr val="EFE9DE"/>
          </a:solidFill>
          <a:ln w="12700">
            <a:solidFill>
              <a:srgbClr val="A0731F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3035808" y="3291840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8A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Xorai Milan — Memory Match</a:t>
            </a:r>
            <a:endParaRPr lang="en-US" sz="850" dirty="0"/>
          </a:p>
        </p:txBody>
      </p:sp>
      <p:sp>
        <p:nvSpPr>
          <p:cNvPr id="34" name="Text 30"/>
          <p:cNvSpPr txBox="1"/>
          <p:nvPr/>
        </p:nvSpPr>
        <p:spPr>
          <a:xfrm>
            <a:off x="3035808" y="348386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weighted 60% to 1950s–70s everyday objects; each match speaks a caption.</a:t>
            </a:r>
            <a:endParaRPr lang="en-US" sz="750" dirty="0"/>
          </a:p>
        </p:txBody>
      </p:sp>
      <p:sp>
        <p:nvSpPr>
          <p:cNvPr id="35" name="Text 31"/>
          <p:cNvSpPr txBox="1"/>
          <p:nvPr/>
        </p:nvSpPr>
        <p:spPr>
          <a:xfrm>
            <a:off x="3035808" y="3877056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1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· memory   →  revisit rate</a:t>
            </a:r>
            <a:endParaRPr lang="en-US" sz="700" dirty="0"/>
          </a:p>
        </p:txBody>
      </p:sp>
      <p:sp>
        <p:nvSpPr>
          <p:cNvPr id="36" name="Shape 32"/>
          <p:cNvSpPr/>
          <p:nvPr/>
        </p:nvSpPr>
        <p:spPr>
          <a:xfrm>
            <a:off x="2926080" y="4178808"/>
            <a:ext cx="2788920" cy="841248"/>
          </a:xfrm>
          <a:prstGeom prst="roundRect">
            <a:avLst>
              <a:gd name="adj" fmla="val 6522"/>
            </a:avLst>
          </a:prstGeom>
          <a:solidFill>
            <a:srgbClr val="EFE9DE"/>
          </a:solidFill>
          <a:ln w="12700">
            <a:solidFill>
              <a:srgbClr val="A0731F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3035808" y="4233672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8A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Ghorir Chobi — Clock &amp; Trace</a:t>
            </a:r>
            <a:endParaRPr lang="en-US" sz="850" dirty="0"/>
          </a:p>
        </p:txBody>
      </p:sp>
      <p:sp>
        <p:nvSpPr>
          <p:cNvPr id="38" name="Text 34"/>
          <p:cNvSpPr txBox="1"/>
          <p:nvPr/>
        </p:nvSpPr>
        <p:spPr>
          <a:xfrm>
            <a:off x="3035808" y="442569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Finger-drawn clock, full stroke trace stored. No automated scoring, ever.</a:t>
            </a:r>
            <a:endParaRPr lang="en-US" sz="750" dirty="0"/>
          </a:p>
        </p:txBody>
      </p:sp>
      <p:sp>
        <p:nvSpPr>
          <p:cNvPr id="39" name="Text 35"/>
          <p:cNvSpPr txBox="1"/>
          <p:nvPr/>
        </p:nvSpPr>
        <p:spPr>
          <a:xfrm>
            <a:off x="3035808" y="4818888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1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visuospatial · executive   →  pre-first-stroke latency</a:t>
            </a:r>
            <a:endParaRPr lang="en-US" sz="700" dirty="0"/>
          </a:p>
        </p:txBody>
      </p:sp>
      <p:sp>
        <p:nvSpPr>
          <p:cNvPr id="40" name="Text 36"/>
          <p:cNvSpPr txBox="1"/>
          <p:nvPr/>
        </p:nvSpPr>
        <p:spPr>
          <a:xfrm>
            <a:off x="438912" y="5248656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path — identical for every game</a:t>
            </a:r>
            <a:endParaRPr lang="en-US" sz="1050" dirty="0"/>
          </a:p>
        </p:txBody>
      </p:sp>
      <p:sp>
        <p:nvSpPr>
          <p:cNvPr id="41" name="Text 37"/>
          <p:cNvSpPr txBox="1"/>
          <p:nvPr/>
        </p:nvSpPr>
        <p:spPr>
          <a:xfrm>
            <a:off x="438912" y="5532120"/>
            <a:ext cx="1097280" cy="420624"/>
          </a:xfrm>
          <a:prstGeom prst="chevron">
            <a:avLst/>
          </a:prstGeom>
          <a:solidFill>
            <a:srgbClr val="D6E0D4"/>
          </a:solidFill>
          <a:ln w="9525">
            <a:solidFill>
              <a:srgbClr val="A073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pointerdown</a:t>
            </a:r>
            <a:endParaRPr lang="en-US" sz="750" dirty="0"/>
          </a:p>
        </p:txBody>
      </p:sp>
      <p:sp>
        <p:nvSpPr>
          <p:cNvPr id="42" name="Text 38"/>
          <p:cNvSpPr txBox="1"/>
          <p:nvPr/>
        </p:nvSpPr>
        <p:spPr>
          <a:xfrm>
            <a:off x="1499616" y="5532120"/>
            <a:ext cx="1097280" cy="420624"/>
          </a:xfrm>
          <a:prstGeom prst="chevron">
            <a:avLst/>
          </a:prstGeom>
          <a:solidFill>
            <a:srgbClr val="E9D9AE"/>
          </a:solidFill>
          <a:ln w="9525">
            <a:solidFill>
              <a:srgbClr val="A073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offset</a:t>
            </a:r>
            <a:endParaRPr lang="en-US" sz="750" dirty="0"/>
          </a:p>
        </p:txBody>
      </p:sp>
      <p:sp>
        <p:nvSpPr>
          <p:cNvPr id="43" name="Text 39"/>
          <p:cNvSpPr txBox="1"/>
          <p:nvPr/>
        </p:nvSpPr>
        <p:spPr>
          <a:xfrm>
            <a:off x="2560320" y="5532120"/>
            <a:ext cx="1097280" cy="420624"/>
          </a:xfrm>
          <a:prstGeom prst="chevron">
            <a:avLst/>
          </a:prstGeom>
          <a:solidFill>
            <a:srgbClr val="D6E0D4"/>
          </a:solidFill>
          <a:ln w="9525">
            <a:solidFill>
              <a:srgbClr val="A073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emit()</a:t>
            </a:r>
            <a:endParaRPr lang="en-US" sz="750" dirty="0"/>
          </a:p>
        </p:txBody>
      </p:sp>
      <p:sp>
        <p:nvSpPr>
          <p:cNvPr id="44" name="Text 40"/>
          <p:cNvSpPr txBox="1"/>
          <p:nvPr/>
        </p:nvSpPr>
        <p:spPr>
          <a:xfrm>
            <a:off x="3621024" y="5532120"/>
            <a:ext cx="1097280" cy="420624"/>
          </a:xfrm>
          <a:prstGeom prst="chevron">
            <a:avLst/>
          </a:prstGeom>
          <a:solidFill>
            <a:srgbClr val="E9D9AE"/>
          </a:solidFill>
          <a:ln w="9525">
            <a:solidFill>
              <a:srgbClr val="A073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Dexie outbox</a:t>
            </a:r>
            <a:endParaRPr lang="en-US" sz="750" dirty="0"/>
          </a:p>
        </p:txBody>
      </p:sp>
      <p:sp>
        <p:nvSpPr>
          <p:cNvPr id="45" name="Text 41"/>
          <p:cNvSpPr txBox="1"/>
          <p:nvPr/>
        </p:nvSpPr>
        <p:spPr>
          <a:xfrm>
            <a:off x="4681728" y="5532120"/>
            <a:ext cx="1097280" cy="420624"/>
          </a:xfrm>
          <a:prstGeom prst="chevron">
            <a:avLst/>
          </a:prstGeom>
          <a:solidFill>
            <a:srgbClr val="D6E0D4"/>
          </a:solidFill>
          <a:ln w="9525">
            <a:solidFill>
              <a:srgbClr val="A073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flush on sync</a:t>
            </a:r>
            <a:endParaRPr lang="en-US" sz="750" dirty="0"/>
          </a:p>
        </p:txBody>
      </p:sp>
      <p:sp>
        <p:nvSpPr>
          <p:cNvPr id="46" name="Text 42"/>
          <p:cNvSpPr txBox="1"/>
          <p:nvPr/>
        </p:nvSpPr>
        <p:spPr>
          <a:xfrm>
            <a:off x="438912" y="6053328"/>
            <a:ext cx="53035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B5342A"/>
            </a:solidFill>
          </a:ln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8A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Date.now() is banned in every telemetry path — wall clock gets NTP-corrected mid-session and would poison the variability metric the whole product rests on.</a:t>
            </a:r>
            <a:endParaRPr lang="en-US" sz="800" dirty="0"/>
          </a:p>
        </p:txBody>
      </p:sp>
      <p:sp>
        <p:nvSpPr>
          <p:cNvPr id="47" name="Shape 43"/>
          <p:cNvSpPr/>
          <p:nvPr/>
        </p:nvSpPr>
        <p:spPr>
          <a:xfrm>
            <a:off x="6035040" y="1078992"/>
            <a:ext cx="164592" cy="164592"/>
          </a:xfrm>
          <a:prstGeom prst="diamond">
            <a:avLst/>
          </a:prstGeom>
          <a:solidFill>
            <a:srgbClr val="A0731F"/>
          </a:solidFill>
          <a:ln w="6350">
            <a:solidFill>
              <a:srgbClr val="A0731F"/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6327648" y="960120"/>
            <a:ext cx="5586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of project</a:t>
            </a:r>
            <a:endParaRPr lang="en-US" sz="1500" dirty="0"/>
          </a:p>
        </p:txBody>
      </p:sp>
      <p:sp>
        <p:nvSpPr>
          <p:cNvPr id="49" name="Shape 45"/>
          <p:cNvSpPr/>
          <p:nvPr/>
        </p:nvSpPr>
        <p:spPr>
          <a:xfrm>
            <a:off x="6035040" y="1481328"/>
            <a:ext cx="5879592" cy="3310128"/>
          </a:xfrm>
          <a:prstGeom prst="roundRect">
            <a:avLst>
              <a:gd name="adj" fmla="val 1657"/>
            </a:avLst>
          </a:prstGeom>
          <a:solidFill>
            <a:srgbClr val="FFFFFF"/>
          </a:solidFill>
          <a:ln w="15875">
            <a:solidFill>
              <a:srgbClr val="E2D9C9"/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6199632" y="1645920"/>
            <a:ext cx="1700784" cy="512064"/>
          </a:xfrm>
          <a:prstGeom prst="roundRect">
            <a:avLst>
              <a:gd name="adj" fmla="val 8929"/>
            </a:avLst>
          </a:prstGeom>
          <a:solidFill>
            <a:srgbClr val="E9D9AE"/>
          </a:solidFill>
          <a:ln w="9525">
            <a:solidFill>
              <a:srgbClr val="A0731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· stroke · tap-back</a:t>
            </a:r>
            <a:endParaRPr lang="en-US" sz="750" dirty="0"/>
          </a:p>
        </p:txBody>
      </p:sp>
      <p:sp>
        <p:nvSpPr>
          <p:cNvPr id="51" name="Text 47"/>
          <p:cNvSpPr txBox="1"/>
          <p:nvPr/>
        </p:nvSpPr>
        <p:spPr>
          <a:xfrm>
            <a:off x="8101584" y="1645920"/>
            <a:ext cx="1700784" cy="512064"/>
          </a:xfrm>
          <a:prstGeom prst="roundRect">
            <a:avLst>
              <a:gd name="adj" fmla="val 8929"/>
            </a:avLst>
          </a:prstGeom>
          <a:solidFill>
            <a:srgbClr val="E9D9AE"/>
          </a:solidFill>
          <a:ln w="9525">
            <a:solidFill>
              <a:srgbClr val="A0731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SessionClock offset (performance.now)</a:t>
            </a:r>
            <a:endParaRPr lang="en-US" sz="750" dirty="0"/>
          </a:p>
        </p:txBody>
      </p:sp>
      <p:sp>
        <p:nvSpPr>
          <p:cNvPr id="52" name="Text 48"/>
          <p:cNvSpPr txBox="1"/>
          <p:nvPr/>
        </p:nvSpPr>
        <p:spPr>
          <a:xfrm>
            <a:off x="10003536" y="1645920"/>
            <a:ext cx="1700784" cy="512064"/>
          </a:xfrm>
          <a:prstGeom prst="roundRect">
            <a:avLst>
              <a:gd name="adj" fmla="val 8929"/>
            </a:avLst>
          </a:prstGeom>
          <a:solidFill>
            <a:srgbClr val="E9D9AE"/>
          </a:solidFill>
          <a:ln w="9525">
            <a:solidFill>
              <a:srgbClr val="A0731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emit() → Dexie, synchronously</a:t>
            </a:r>
            <a:endParaRPr lang="en-US" sz="750" dirty="0"/>
          </a:p>
        </p:txBody>
      </p:sp>
      <p:sp>
        <p:nvSpPr>
          <p:cNvPr id="53" name="Text 49"/>
          <p:cNvSpPr txBox="1"/>
          <p:nvPr/>
        </p:nvSpPr>
        <p:spPr>
          <a:xfrm>
            <a:off x="6199632" y="2395728"/>
            <a:ext cx="1700784" cy="512064"/>
          </a:xfrm>
          <a:prstGeom prst="roundRect">
            <a:avLst>
              <a:gd name="adj" fmla="val 8929"/>
            </a:avLst>
          </a:prstGeom>
          <a:solidFill>
            <a:srgbClr val="D6E0D4"/>
          </a:solidFill>
          <a:ln w="9525">
            <a:solidFill>
              <a:srgbClr val="1F3D2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nightly-rollup Edge Function</a:t>
            </a:r>
            <a:endParaRPr lang="en-US" sz="750" dirty="0"/>
          </a:p>
        </p:txBody>
      </p:sp>
      <p:sp>
        <p:nvSpPr>
          <p:cNvPr id="54" name="Text 50"/>
          <p:cNvSpPr txBox="1"/>
          <p:nvPr/>
        </p:nvSpPr>
        <p:spPr>
          <a:xfrm>
            <a:off x="8101584" y="2395728"/>
            <a:ext cx="1700784" cy="512064"/>
          </a:xfrm>
          <a:prstGeom prst="roundRect">
            <a:avLst>
              <a:gd name="adj" fmla="val 8929"/>
            </a:avLst>
          </a:prstGeom>
          <a:solidFill>
            <a:srgbClr val="D6E0D4"/>
          </a:solidFill>
          <a:ln w="9525">
            <a:solidFill>
              <a:srgbClr val="1F3D2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 + RLS (Mumbai)</a:t>
            </a:r>
            <a:endParaRPr lang="en-US" sz="750" dirty="0"/>
          </a:p>
        </p:txBody>
      </p:sp>
      <p:sp>
        <p:nvSpPr>
          <p:cNvPr id="55" name="Text 51"/>
          <p:cNvSpPr txBox="1"/>
          <p:nvPr/>
        </p:nvSpPr>
        <p:spPr>
          <a:xfrm>
            <a:off x="10003536" y="2395728"/>
            <a:ext cx="1700784" cy="512064"/>
          </a:xfrm>
          <a:prstGeom prst="roundRect">
            <a:avLst>
              <a:gd name="adj" fmla="val 8929"/>
            </a:avLst>
          </a:prstGeom>
          <a:solidFill>
            <a:srgbClr val="D6E0D4"/>
          </a:solidFill>
          <a:ln w="9525">
            <a:solidFill>
              <a:srgbClr val="1F3D2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Outbox flush · uuid v7 upsert</a:t>
            </a:r>
            <a:endParaRPr lang="en-US" sz="750" dirty="0"/>
          </a:p>
        </p:txBody>
      </p:sp>
      <p:sp>
        <p:nvSpPr>
          <p:cNvPr id="56" name="Text 52"/>
          <p:cNvSpPr txBox="1"/>
          <p:nvPr/>
        </p:nvSpPr>
        <p:spPr>
          <a:xfrm>
            <a:off x="6199632" y="3145536"/>
            <a:ext cx="1700784" cy="512064"/>
          </a:xfrm>
          <a:prstGeom prst="roundRect">
            <a:avLst>
              <a:gd name="adj" fmla="val 8929"/>
            </a:avLst>
          </a:prstGeom>
          <a:solidFill>
            <a:srgbClr val="E9D9AE"/>
          </a:solidFill>
          <a:ln w="9525">
            <a:solidFill>
              <a:srgbClr val="A0731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session_summaries — mean RT, CV</a:t>
            </a:r>
            <a:endParaRPr lang="en-US" sz="750" dirty="0"/>
          </a:p>
        </p:txBody>
      </p:sp>
      <p:sp>
        <p:nvSpPr>
          <p:cNvPr id="57" name="Text 53"/>
          <p:cNvSpPr txBox="1"/>
          <p:nvPr/>
        </p:nvSpPr>
        <p:spPr>
          <a:xfrm>
            <a:off x="8101584" y="3145536"/>
            <a:ext cx="1700784" cy="512064"/>
          </a:xfrm>
          <a:prstGeom prst="roundRect">
            <a:avLst>
              <a:gd name="adj" fmla="val 8929"/>
            </a:avLst>
          </a:prstGeom>
          <a:solidFill>
            <a:srgbClr val="E9D9AE"/>
          </a:solidFill>
          <a:ln w="9525">
            <a:solidFill>
              <a:srgbClr val="A0731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 frozen at 10 sessions</a:t>
            </a:r>
            <a:endParaRPr lang="en-US" sz="750" dirty="0"/>
          </a:p>
        </p:txBody>
      </p:sp>
      <p:sp>
        <p:nvSpPr>
          <p:cNvPr id="58" name="Text 54"/>
          <p:cNvSpPr txBox="1"/>
          <p:nvPr/>
        </p:nvSpPr>
        <p:spPr>
          <a:xfrm>
            <a:off x="10003536" y="3145536"/>
            <a:ext cx="1700784" cy="512064"/>
          </a:xfrm>
          <a:prstGeom prst="roundRect">
            <a:avLst>
              <a:gd name="adj" fmla="val 8929"/>
            </a:avLst>
          </a:prstGeom>
          <a:solidFill>
            <a:srgbClr val="E9D9AE"/>
          </a:solidFill>
          <a:ln w="9525">
            <a:solidFill>
              <a:srgbClr val="A0731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+ EWMA vs own baseline</a:t>
            </a:r>
            <a:endParaRPr lang="en-US" sz="750" dirty="0"/>
          </a:p>
        </p:txBody>
      </p:sp>
      <p:sp>
        <p:nvSpPr>
          <p:cNvPr id="59" name="Text 55"/>
          <p:cNvSpPr txBox="1"/>
          <p:nvPr/>
        </p:nvSpPr>
        <p:spPr>
          <a:xfrm>
            <a:off x="6199632" y="3895344"/>
            <a:ext cx="1700784" cy="512064"/>
          </a:xfrm>
          <a:prstGeom prst="roundRect">
            <a:avLst>
              <a:gd name="adj" fmla="val 8929"/>
            </a:avLst>
          </a:prstGeom>
          <a:solidFill>
            <a:srgbClr val="D6E0D4"/>
          </a:solidFill>
          <a:ln w="9525">
            <a:solidFill>
              <a:srgbClr val="1F3D2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 dashboard + PDF</a:t>
            </a:r>
            <a:endParaRPr lang="en-US" sz="750" dirty="0"/>
          </a:p>
        </p:txBody>
      </p:sp>
      <p:sp>
        <p:nvSpPr>
          <p:cNvPr id="60" name="Text 56"/>
          <p:cNvSpPr txBox="1"/>
          <p:nvPr/>
        </p:nvSpPr>
        <p:spPr>
          <a:xfrm>
            <a:off x="8101584" y="3895344"/>
            <a:ext cx="1700784" cy="512064"/>
          </a:xfrm>
          <a:prstGeom prst="roundRect">
            <a:avLst>
              <a:gd name="adj" fmla="val 8929"/>
            </a:avLst>
          </a:prstGeom>
          <a:solidFill>
            <a:srgbClr val="D6E0D4"/>
          </a:solidFill>
          <a:ln w="9525">
            <a:solidFill>
              <a:srgbClr val="1F3D2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or red change flag</a:t>
            </a:r>
            <a:endParaRPr lang="en-US" sz="750" dirty="0"/>
          </a:p>
        </p:txBody>
      </p:sp>
      <p:sp>
        <p:nvSpPr>
          <p:cNvPr id="61" name="Text 57"/>
          <p:cNvSpPr txBox="1"/>
          <p:nvPr/>
        </p:nvSpPr>
        <p:spPr>
          <a:xfrm>
            <a:off x="10003536" y="3895344"/>
            <a:ext cx="1700784" cy="512064"/>
          </a:xfrm>
          <a:prstGeom prst="roundRect">
            <a:avLst>
              <a:gd name="adj" fmla="val 8929"/>
            </a:avLst>
          </a:prstGeom>
          <a:solidFill>
            <a:srgbClr val="D6E0D4"/>
          </a:solidFill>
          <a:ln w="9525">
            <a:solidFill>
              <a:srgbClr val="1F3D2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Suppress: illness · low effort · thin data</a:t>
            </a:r>
            <a:endParaRPr lang="en-US" sz="750" dirty="0"/>
          </a:p>
        </p:txBody>
      </p:sp>
      <p:sp>
        <p:nvSpPr>
          <p:cNvPr id="62" name="Shape 58"/>
          <p:cNvSpPr/>
          <p:nvPr/>
        </p:nvSpPr>
        <p:spPr>
          <a:xfrm>
            <a:off x="7918704" y="1901952"/>
            <a:ext cx="164592" cy="0"/>
          </a:xfrm>
          <a:prstGeom prst="line">
            <a:avLst/>
          </a:prstGeom>
          <a:noFill/>
          <a:ln w="15875">
            <a:solidFill>
              <a:srgbClr val="5E5142"/>
            </a:solidFill>
            <a:prstDash val="solid"/>
            <a:tailEnd type="triangle"/>
          </a:ln>
        </p:spPr>
      </p:sp>
      <p:sp>
        <p:nvSpPr>
          <p:cNvPr id="63" name="Shape 59"/>
          <p:cNvSpPr/>
          <p:nvPr/>
        </p:nvSpPr>
        <p:spPr>
          <a:xfrm>
            <a:off x="9820656" y="1901952"/>
            <a:ext cx="164592" cy="0"/>
          </a:xfrm>
          <a:prstGeom prst="line">
            <a:avLst/>
          </a:prstGeom>
          <a:noFill/>
          <a:ln w="15875">
            <a:solidFill>
              <a:srgbClr val="5E5142"/>
            </a:solidFill>
            <a:prstDash val="solid"/>
            <a:tailEnd type="triangle"/>
          </a:ln>
        </p:spPr>
      </p:sp>
      <p:sp>
        <p:nvSpPr>
          <p:cNvPr id="64" name="Shape 60"/>
          <p:cNvSpPr/>
          <p:nvPr/>
        </p:nvSpPr>
        <p:spPr>
          <a:xfrm>
            <a:off x="7918704" y="3401568"/>
            <a:ext cx="164592" cy="0"/>
          </a:xfrm>
          <a:prstGeom prst="line">
            <a:avLst/>
          </a:prstGeom>
          <a:noFill/>
          <a:ln w="15875">
            <a:solidFill>
              <a:srgbClr val="5E5142"/>
            </a:solidFill>
            <a:prstDash val="solid"/>
            <a:tailEnd type="triangle"/>
          </a:ln>
        </p:spPr>
      </p:sp>
      <p:sp>
        <p:nvSpPr>
          <p:cNvPr id="65" name="Shape 61"/>
          <p:cNvSpPr/>
          <p:nvPr/>
        </p:nvSpPr>
        <p:spPr>
          <a:xfrm>
            <a:off x="9820656" y="3401568"/>
            <a:ext cx="164592" cy="0"/>
          </a:xfrm>
          <a:prstGeom prst="line">
            <a:avLst/>
          </a:prstGeom>
          <a:noFill/>
          <a:ln w="15875">
            <a:solidFill>
              <a:srgbClr val="5E5142"/>
            </a:solidFill>
            <a:prstDash val="solid"/>
            <a:tailEnd type="triangle"/>
          </a:ln>
        </p:spPr>
      </p:sp>
      <p:sp>
        <p:nvSpPr>
          <p:cNvPr id="66" name="Shape 62"/>
          <p:cNvSpPr/>
          <p:nvPr/>
        </p:nvSpPr>
        <p:spPr>
          <a:xfrm flipH="1">
            <a:off x="7918704" y="2651760"/>
            <a:ext cx="164592" cy="0"/>
          </a:xfrm>
          <a:prstGeom prst="line">
            <a:avLst/>
          </a:prstGeom>
          <a:noFill/>
          <a:ln w="15875">
            <a:solidFill>
              <a:srgbClr val="5E5142"/>
            </a:solidFill>
            <a:prstDash val="solid"/>
            <a:tailEnd type="triangle"/>
          </a:ln>
        </p:spPr>
      </p:sp>
      <p:sp>
        <p:nvSpPr>
          <p:cNvPr id="67" name="Shape 63"/>
          <p:cNvSpPr/>
          <p:nvPr/>
        </p:nvSpPr>
        <p:spPr>
          <a:xfrm flipH="1">
            <a:off x="7918704" y="2651760"/>
            <a:ext cx="164592" cy="0"/>
          </a:xfrm>
          <a:prstGeom prst="line">
            <a:avLst/>
          </a:prstGeom>
          <a:noFill/>
          <a:ln w="15875">
            <a:solidFill>
              <a:srgbClr val="5E5142"/>
            </a:solidFill>
            <a:prstDash val="solid"/>
            <a:tailEnd type="triangle"/>
          </a:ln>
        </p:spPr>
      </p:sp>
      <p:sp>
        <p:nvSpPr>
          <p:cNvPr id="68" name="Shape 64"/>
          <p:cNvSpPr/>
          <p:nvPr/>
        </p:nvSpPr>
        <p:spPr>
          <a:xfrm flipH="1">
            <a:off x="7918704" y="4151376"/>
            <a:ext cx="164592" cy="0"/>
          </a:xfrm>
          <a:prstGeom prst="line">
            <a:avLst/>
          </a:prstGeom>
          <a:noFill/>
          <a:ln w="15875">
            <a:solidFill>
              <a:srgbClr val="5E5142"/>
            </a:solidFill>
            <a:prstDash val="solid"/>
            <a:tailEnd type="triangle"/>
          </a:ln>
        </p:spPr>
      </p:sp>
      <p:sp>
        <p:nvSpPr>
          <p:cNvPr id="69" name="Shape 65"/>
          <p:cNvSpPr/>
          <p:nvPr/>
        </p:nvSpPr>
        <p:spPr>
          <a:xfrm flipH="1">
            <a:off x="7918704" y="4151376"/>
            <a:ext cx="164592" cy="0"/>
          </a:xfrm>
          <a:prstGeom prst="line">
            <a:avLst/>
          </a:prstGeom>
          <a:noFill/>
          <a:ln w="15875">
            <a:solidFill>
              <a:srgbClr val="5E5142"/>
            </a:solidFill>
            <a:prstDash val="solid"/>
            <a:tailEnd type="triangle"/>
          </a:ln>
        </p:spPr>
      </p:sp>
      <p:sp>
        <p:nvSpPr>
          <p:cNvPr id="70" name="Shape 66"/>
          <p:cNvSpPr/>
          <p:nvPr/>
        </p:nvSpPr>
        <p:spPr>
          <a:xfrm>
            <a:off x="10853928" y="2167128"/>
            <a:ext cx="0" cy="219456"/>
          </a:xfrm>
          <a:prstGeom prst="line">
            <a:avLst/>
          </a:prstGeom>
          <a:noFill/>
          <a:ln w="15875">
            <a:solidFill>
              <a:srgbClr val="5E5142"/>
            </a:solidFill>
            <a:prstDash val="solid"/>
            <a:tailEnd type="triangle"/>
          </a:ln>
        </p:spPr>
      </p:sp>
      <p:sp>
        <p:nvSpPr>
          <p:cNvPr id="71" name="Shape 67"/>
          <p:cNvSpPr/>
          <p:nvPr/>
        </p:nvSpPr>
        <p:spPr>
          <a:xfrm>
            <a:off x="7050024" y="2916936"/>
            <a:ext cx="0" cy="219456"/>
          </a:xfrm>
          <a:prstGeom prst="line">
            <a:avLst/>
          </a:prstGeom>
          <a:noFill/>
          <a:ln w="15875">
            <a:solidFill>
              <a:srgbClr val="5E5142"/>
            </a:solidFill>
            <a:prstDash val="solid"/>
            <a:tailEnd type="triangle"/>
          </a:ln>
        </p:spPr>
      </p:sp>
      <p:sp>
        <p:nvSpPr>
          <p:cNvPr id="72" name="Shape 68"/>
          <p:cNvSpPr/>
          <p:nvPr/>
        </p:nvSpPr>
        <p:spPr>
          <a:xfrm>
            <a:off x="10853928" y="3666744"/>
            <a:ext cx="0" cy="219456"/>
          </a:xfrm>
          <a:prstGeom prst="line">
            <a:avLst/>
          </a:prstGeom>
          <a:noFill/>
          <a:ln w="15875">
            <a:solidFill>
              <a:srgbClr val="5E5142"/>
            </a:solidFill>
            <a:prstDash val="solid"/>
            <a:tailEnd type="triangle"/>
          </a:ln>
        </p:spPr>
      </p:sp>
      <p:sp>
        <p:nvSpPr>
          <p:cNvPr id="73" name="Shape 69"/>
          <p:cNvSpPr/>
          <p:nvPr/>
        </p:nvSpPr>
        <p:spPr>
          <a:xfrm>
            <a:off x="6035040" y="5020056"/>
            <a:ext cx="164592" cy="164592"/>
          </a:xfrm>
          <a:prstGeom prst="diamond">
            <a:avLst/>
          </a:prstGeom>
          <a:solidFill>
            <a:srgbClr val="A0731F"/>
          </a:solidFill>
          <a:ln w="6350">
            <a:solidFill>
              <a:srgbClr val="A0731F"/>
            </a:solidFill>
            <a:prstDash val="solid"/>
          </a:ln>
        </p:spPr>
      </p:sp>
      <p:sp>
        <p:nvSpPr>
          <p:cNvPr id="74" name="Text 70"/>
          <p:cNvSpPr txBox="1"/>
          <p:nvPr/>
        </p:nvSpPr>
        <p:spPr>
          <a:xfrm>
            <a:off x="6327648" y="4901184"/>
            <a:ext cx="5586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to be used</a:t>
            </a:r>
            <a:endParaRPr lang="en-US" sz="1500" dirty="0"/>
          </a:p>
        </p:txBody>
      </p:sp>
      <p:sp>
        <p:nvSpPr>
          <p:cNvPr id="75" name="Shape 71"/>
          <p:cNvSpPr/>
          <p:nvPr/>
        </p:nvSpPr>
        <p:spPr>
          <a:xfrm>
            <a:off x="6035040" y="5394960"/>
            <a:ext cx="5879592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5875">
            <a:solidFill>
              <a:srgbClr val="E2D9C9"/>
            </a:solidFill>
            <a:prstDash val="solid"/>
          </a:ln>
        </p:spPr>
      </p:sp>
      <p:sp>
        <p:nvSpPr>
          <p:cNvPr id="76" name="Text 72"/>
          <p:cNvSpPr txBox="1"/>
          <p:nvPr/>
        </p:nvSpPr>
        <p:spPr>
          <a:xfrm>
            <a:off x="6199632" y="5468112"/>
            <a:ext cx="55778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8A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— </a:t>
            </a:r>
            <a:pPr indent="0" marL="0">
              <a:lnSpc>
                <a:spcPct val="95000"/>
              </a:lnSpc>
              <a:spcAft>
                <a:spcPts val="500"/>
              </a:spcAft>
              <a:buNone/>
            </a:pPr>
            <a:r>
              <a:rPr lang="en-US" sz="85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6 · React 19 · TypeScript strict · Tailwind 3.4 · shadcn/ui · Zustand · TanStack Query</a:t>
            </a:r>
            <a:endParaRPr lang="en-US" sz="850" dirty="0"/>
          </a:p>
          <a:p>
            <a:pPr indent="0" marL="0">
              <a:lnSpc>
                <a:spcPct val="95000"/>
              </a:lnSpc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8A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— </a:t>
            </a:r>
            <a:pPr indent="0" marL="0">
              <a:lnSpc>
                <a:spcPct val="95000"/>
              </a:lnSpc>
              <a:spcAft>
                <a:spcPts val="500"/>
              </a:spcAft>
              <a:buNone/>
            </a:pPr>
            <a:r>
              <a:rPr lang="en-US" sz="85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Dexie 4 (IndexedDB) · vite-plugin-pwa (injectManifest) · uuid v7 idempotent upsert</a:t>
            </a:r>
            <a:endParaRPr lang="en-US" sz="850" dirty="0"/>
          </a:p>
          <a:p>
            <a:pPr indent="0" marL="0">
              <a:lnSpc>
                <a:spcPct val="95000"/>
              </a:lnSpc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8A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</a:t>
            </a:r>
            <a:pPr indent="0" marL="0">
              <a:lnSpc>
                <a:spcPct val="95000"/>
              </a:lnSpc>
              <a:spcAft>
                <a:spcPts val="500"/>
              </a:spcAft>
              <a:buNone/>
            </a:pPr>
            <a:r>
              <a:rPr lang="en-US" sz="85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— Postgres, Row Level Security, Auth, Storage, Edge Functions · ap-south-1 Mumbai</a:t>
            </a:r>
            <a:endParaRPr lang="en-US" sz="850" dirty="0"/>
          </a:p>
          <a:p>
            <a:pPr indent="0" marL="0">
              <a:lnSpc>
                <a:spcPct val="95000"/>
              </a:lnSpc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8A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— </a:t>
            </a:r>
            <a:pPr indent="0" marL="0">
              <a:lnSpc>
                <a:spcPct val="95000"/>
              </a:lnSpc>
              <a:spcAft>
                <a:spcPts val="500"/>
              </a:spcAft>
              <a:buNone/>
            </a:pPr>
            <a:r>
              <a:rPr lang="en-US" sz="85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Web Audio API · pointerrawupdate + getCoalescedEvents() · Recharts</a:t>
            </a:r>
            <a:endParaRPr lang="en-US" sz="850" dirty="0"/>
          </a:p>
          <a:p>
            <a:pPr indent="0" marL="0">
              <a:lnSpc>
                <a:spcPct val="95000"/>
              </a:lnSpc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8A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— </a:t>
            </a:r>
            <a:pPr indent="0" marL="0">
              <a:lnSpc>
                <a:spcPct val="95000"/>
              </a:lnSpc>
              <a:spcAft>
                <a:spcPts val="500"/>
              </a:spcAft>
              <a:buNone/>
            </a:pPr>
            <a:r>
              <a:rPr lang="en-US" sz="85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react-i18next · Bhashini TTS pre-generated at build time · Noto Sans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65176"/>
            <a:ext cx="585216" cy="585216"/>
          </a:xfrm>
          <a:prstGeom prst="ellipse">
            <a:avLst/>
          </a:prstGeom>
          <a:solidFill>
            <a:srgbClr val="1F3D2E"/>
          </a:solidFill>
          <a:ln w="12700">
            <a:solidFill>
              <a:srgbClr val="1F3D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26517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E9D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060704" y="237744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AND VIABILITY</a:t>
            </a:r>
            <a:endParaRPr lang="en-US" sz="2600" dirty="0"/>
          </a:p>
        </p:txBody>
      </p:sp>
      <p:pic>
        <p:nvPicPr>
          <p:cNvPr id="5" name="Image 0" descr="ic_bamboo_br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35824" y="292608"/>
            <a:ext cx="530352" cy="53035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357616" y="29260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5E5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Overfitters Anonymous</a:t>
            </a:r>
            <a:endParaRPr lang="en-US" sz="1150" dirty="0"/>
          </a:p>
        </p:txBody>
      </p:sp>
      <p:pic>
        <p:nvPicPr>
          <p:cNvPr id="7" name="Image 1" descr="logo_202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146304"/>
            <a:ext cx="1463040" cy="74066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74320" y="960120"/>
            <a:ext cx="5943600" cy="27889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25400">
            <a:solidFill>
              <a:srgbClr val="1F3D2E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2240280" y="1078992"/>
            <a:ext cx="2011680" cy="384048"/>
          </a:xfrm>
          <a:prstGeom prst="roundRect">
            <a:avLst>
              <a:gd name="adj" fmla="val 11905"/>
            </a:avLst>
          </a:prstGeom>
          <a:solidFill>
            <a:srgbClr val="1F3D2E"/>
          </a:solidFill>
          <a:ln w="9525">
            <a:solidFill>
              <a:srgbClr val="1F3D2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&amp; Viability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 flipH="1">
            <a:off x="1115568" y="1481328"/>
            <a:ext cx="2130552" cy="384048"/>
          </a:xfrm>
          <a:prstGeom prst="line">
            <a:avLst/>
          </a:prstGeom>
          <a:noFill/>
          <a:ln w="15875">
            <a:solidFill>
              <a:srgbClr val="5E5142"/>
            </a:solidFill>
            <a:prstDash val="solid"/>
            <a:tailEnd type="triangle"/>
          </a:ln>
        </p:spPr>
      </p:sp>
      <p:sp>
        <p:nvSpPr>
          <p:cNvPr id="11" name="Text 7"/>
          <p:cNvSpPr txBox="1"/>
          <p:nvPr/>
        </p:nvSpPr>
        <p:spPr>
          <a:xfrm>
            <a:off x="457200" y="1883664"/>
            <a:ext cx="1325880" cy="402336"/>
          </a:xfrm>
          <a:prstGeom prst="roundRect">
            <a:avLst>
              <a:gd name="adj" fmla="val 11364"/>
            </a:avLst>
          </a:prstGeom>
          <a:solidFill>
            <a:srgbClr val="E9D9AE"/>
          </a:solidFill>
          <a:ln w="12700">
            <a:solidFill>
              <a:srgbClr val="A0731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95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2359152"/>
            <a:ext cx="1325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95000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PWA is a proven pattern</a:t>
            </a:r>
            <a:endParaRPr lang="en-US" sz="750" dirty="0"/>
          </a:p>
          <a:p>
            <a:pPr algn="l" marL="342900" indent="-342900">
              <a:lnSpc>
                <a:spcPct val="95000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Bhashini TTS covers as · brx · mni · ne · hi</a:t>
            </a:r>
            <a:endParaRPr lang="en-US" sz="750" dirty="0"/>
          </a:p>
          <a:p>
            <a:pPr algn="l" marL="342900" indent="-342900">
              <a:lnSpc>
                <a:spcPct val="95000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RLS + window functions do the analysis</a:t>
            </a:r>
            <a:endParaRPr lang="en-US" sz="750" dirty="0"/>
          </a:p>
        </p:txBody>
      </p:sp>
      <p:sp>
        <p:nvSpPr>
          <p:cNvPr id="13" name="Shape 9"/>
          <p:cNvSpPr/>
          <p:nvPr/>
        </p:nvSpPr>
        <p:spPr>
          <a:xfrm flipH="1">
            <a:off x="2532888" y="1481328"/>
            <a:ext cx="713232" cy="384048"/>
          </a:xfrm>
          <a:prstGeom prst="line">
            <a:avLst/>
          </a:prstGeom>
          <a:noFill/>
          <a:ln w="15875">
            <a:solidFill>
              <a:srgbClr val="5E5142"/>
            </a:solidFill>
            <a:prstDash val="solid"/>
            <a:tailEnd type="triangle"/>
          </a:ln>
        </p:spPr>
      </p:sp>
      <p:sp>
        <p:nvSpPr>
          <p:cNvPr id="14" name="Text 10"/>
          <p:cNvSpPr txBox="1"/>
          <p:nvPr/>
        </p:nvSpPr>
        <p:spPr>
          <a:xfrm>
            <a:off x="1874520" y="1883664"/>
            <a:ext cx="1325880" cy="402336"/>
          </a:xfrm>
          <a:prstGeom prst="roundRect">
            <a:avLst>
              <a:gd name="adj" fmla="val 11364"/>
            </a:avLst>
          </a:prstGeom>
          <a:solidFill>
            <a:srgbClr val="E9D9AE"/>
          </a:solidFill>
          <a:ln w="12700">
            <a:solidFill>
              <a:srgbClr val="A0731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</a:t>
            </a:r>
            <a:endParaRPr lang="en-US" sz="950" dirty="0"/>
          </a:p>
        </p:txBody>
      </p:sp>
      <p:sp>
        <p:nvSpPr>
          <p:cNvPr id="15" name="Text 11"/>
          <p:cNvSpPr txBox="1"/>
          <p:nvPr/>
        </p:nvSpPr>
        <p:spPr>
          <a:xfrm>
            <a:off x="1874520" y="2359152"/>
            <a:ext cx="1325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95000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constructs: span, spaced retrieval, clock drawing</a:t>
            </a:r>
            <a:endParaRPr lang="en-US" sz="750" dirty="0"/>
          </a:p>
          <a:p>
            <a:pPr algn="l" marL="342900" indent="-342900">
              <a:lnSpc>
                <a:spcPct val="95000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clock test already piloted in India</a:t>
            </a:r>
            <a:endParaRPr lang="en-US" sz="750" dirty="0"/>
          </a:p>
          <a:p>
            <a:pPr algn="l" marL="342900" indent="-342900">
              <a:lnSpc>
                <a:spcPct val="95000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Within-person design needs no published norms</a:t>
            </a:r>
            <a:endParaRPr lang="en-US" sz="750" dirty="0"/>
          </a:p>
        </p:txBody>
      </p:sp>
      <p:sp>
        <p:nvSpPr>
          <p:cNvPr id="16" name="Shape 12"/>
          <p:cNvSpPr/>
          <p:nvPr/>
        </p:nvSpPr>
        <p:spPr>
          <a:xfrm>
            <a:off x="3246120" y="1481328"/>
            <a:ext cx="704088" cy="384048"/>
          </a:xfrm>
          <a:prstGeom prst="line">
            <a:avLst/>
          </a:prstGeom>
          <a:noFill/>
          <a:ln w="15875">
            <a:solidFill>
              <a:srgbClr val="5E5142"/>
            </a:solidFill>
            <a:prstDash val="solid"/>
            <a:tailEnd type="triangle"/>
          </a:ln>
        </p:spPr>
      </p:sp>
      <p:sp>
        <p:nvSpPr>
          <p:cNvPr id="17" name="Text 13"/>
          <p:cNvSpPr txBox="1"/>
          <p:nvPr/>
        </p:nvSpPr>
        <p:spPr>
          <a:xfrm>
            <a:off x="3291840" y="1883664"/>
            <a:ext cx="1325880" cy="402336"/>
          </a:xfrm>
          <a:prstGeom prst="roundRect">
            <a:avLst>
              <a:gd name="adj" fmla="val 11364"/>
            </a:avLst>
          </a:prstGeom>
          <a:solidFill>
            <a:srgbClr val="E9D9AE"/>
          </a:solidFill>
          <a:ln w="12700">
            <a:solidFill>
              <a:srgbClr val="A0731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3291840" y="2359152"/>
            <a:ext cx="1325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95000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₹8–12k Android tablet per household</a:t>
            </a:r>
            <a:endParaRPr lang="en-US" sz="750" dirty="0"/>
          </a:p>
          <a:p>
            <a:pPr algn="l" marL="342900" indent="-342900">
              <a:lnSpc>
                <a:spcPct val="95000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per-session inference cost — hosting only</a:t>
            </a:r>
            <a:endParaRPr lang="en-US" sz="750" dirty="0"/>
          </a:p>
          <a:p>
            <a:pPr algn="l" marL="342900" indent="-342900">
              <a:lnSpc>
                <a:spcPct val="95000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tiers cover the entire pilot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3246120" y="1481328"/>
            <a:ext cx="2121408" cy="384048"/>
          </a:xfrm>
          <a:prstGeom prst="line">
            <a:avLst/>
          </a:prstGeom>
          <a:noFill/>
          <a:ln w="15875">
            <a:solidFill>
              <a:srgbClr val="5E5142"/>
            </a:solidFill>
            <a:prstDash val="solid"/>
            <a:tailEnd type="triangle"/>
          </a:ln>
        </p:spPr>
      </p:sp>
      <p:sp>
        <p:nvSpPr>
          <p:cNvPr id="20" name="Text 16"/>
          <p:cNvSpPr txBox="1"/>
          <p:nvPr/>
        </p:nvSpPr>
        <p:spPr>
          <a:xfrm>
            <a:off x="4709160" y="1883664"/>
            <a:ext cx="1325880" cy="402336"/>
          </a:xfrm>
          <a:prstGeom prst="roundRect">
            <a:avLst>
              <a:gd name="adj" fmla="val 11364"/>
            </a:avLst>
          </a:prstGeom>
          <a:solidFill>
            <a:srgbClr val="E9D9AE"/>
          </a:solidFill>
          <a:ln w="12700">
            <a:solidFill>
              <a:srgbClr val="A0731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&amp; social</a:t>
            </a:r>
            <a:endParaRPr lang="en-US" sz="950" dirty="0"/>
          </a:p>
        </p:txBody>
      </p:sp>
      <p:sp>
        <p:nvSpPr>
          <p:cNvPr id="21" name="Text 17"/>
          <p:cNvSpPr txBox="1"/>
          <p:nvPr/>
        </p:nvSpPr>
        <p:spPr>
          <a:xfrm>
            <a:off x="4709160" y="2359152"/>
            <a:ext cx="1325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95000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ASHA workers are the last mile, not an app store</a:t>
            </a:r>
            <a:endParaRPr lang="en-US" sz="750" dirty="0"/>
          </a:p>
          <a:p>
            <a:pPr algn="l" marL="342900" indent="-342900">
              <a:lnSpc>
                <a:spcPct val="95000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caregiver is the retention mechanism</a:t>
            </a:r>
            <a:endParaRPr lang="en-US" sz="750" dirty="0"/>
          </a:p>
          <a:p>
            <a:pPr algn="l" marL="342900" indent="-342900">
              <a:lnSpc>
                <a:spcPct val="95000"/>
              </a:lnSpc>
              <a:spcAft>
                <a:spcPts val="400"/>
              </a:spcAft>
              <a:buSzPct val="100000"/>
              <a:buChar char="•"/>
            </a:pPr>
            <a:r>
              <a:rPr lang="en-US" sz="75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Gamosa, dhol and kinship terms make it feel local</a:t>
            </a:r>
            <a:endParaRPr lang="en-US" sz="750" dirty="0"/>
          </a:p>
        </p:txBody>
      </p:sp>
      <p:sp>
        <p:nvSpPr>
          <p:cNvPr id="22" name="Shape 18"/>
          <p:cNvSpPr/>
          <p:nvPr/>
        </p:nvSpPr>
        <p:spPr>
          <a:xfrm>
            <a:off x="274320" y="3886200"/>
            <a:ext cx="5943600" cy="27889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25400">
            <a:solidFill>
              <a:srgbClr val="B5342A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438912" y="4005072"/>
            <a:ext cx="3291840" cy="365760"/>
          </a:xfrm>
          <a:prstGeom prst="roundRect">
            <a:avLst>
              <a:gd name="adj" fmla="val 12500"/>
            </a:avLst>
          </a:prstGeom>
          <a:solidFill>
            <a:srgbClr val="B5342A"/>
          </a:solidFill>
          <a:ln w="9525">
            <a:solidFill>
              <a:srgbClr val="8A241C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 →  how we answer them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438912" y="4480560"/>
            <a:ext cx="2606040" cy="457200"/>
          </a:xfrm>
          <a:prstGeom prst="roundRect">
            <a:avLst>
              <a:gd name="adj" fmla="val 10000"/>
            </a:avLst>
          </a:prstGeom>
          <a:solidFill>
            <a:srgbClr val="EFE9DE"/>
          </a:solidFill>
          <a:ln w="9525">
            <a:solidFill>
              <a:srgbClr val="5E5142"/>
            </a:solidFill>
          </a:ln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Adherence — ~43% attrition even in supervised trials</a:t>
            </a:r>
            <a:endParaRPr lang="en-US" sz="750" dirty="0"/>
          </a:p>
        </p:txBody>
      </p:sp>
      <p:sp>
        <p:nvSpPr>
          <p:cNvPr id="25" name="Shape 21"/>
          <p:cNvSpPr/>
          <p:nvPr/>
        </p:nvSpPr>
        <p:spPr>
          <a:xfrm>
            <a:off x="3108960" y="4709160"/>
            <a:ext cx="274320" cy="0"/>
          </a:xfrm>
          <a:prstGeom prst="line">
            <a:avLst/>
          </a:prstGeom>
          <a:noFill/>
          <a:ln w="19050">
            <a:solidFill>
              <a:srgbClr val="B5342A"/>
            </a:solidFill>
            <a:prstDash val="solid"/>
            <a:tailEnd type="triangle"/>
          </a:ln>
        </p:spPr>
      </p:sp>
      <p:sp>
        <p:nvSpPr>
          <p:cNvPr id="26" name="Text 22"/>
          <p:cNvSpPr txBox="1"/>
          <p:nvPr/>
        </p:nvSpPr>
        <p:spPr>
          <a:xfrm>
            <a:off x="3456432" y="4480560"/>
            <a:ext cx="2596896" cy="457200"/>
          </a:xfrm>
          <a:prstGeom prst="roundRect">
            <a:avLst>
              <a:gd name="adj" fmla="val 10000"/>
            </a:avLst>
          </a:prstGeom>
          <a:solidFill>
            <a:srgbClr val="D6E0D4"/>
          </a:solidFill>
          <a:ln w="9525">
            <a:solidFill>
              <a:srgbClr val="1F3D2E"/>
            </a:solidFill>
          </a:ln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content, caregiver as co-user, a grove that grows and never a streak</a:t>
            </a:r>
            <a:endParaRPr lang="en-US" sz="750" dirty="0"/>
          </a:p>
        </p:txBody>
      </p:sp>
      <p:sp>
        <p:nvSpPr>
          <p:cNvPr id="27" name="Text 23"/>
          <p:cNvSpPr txBox="1"/>
          <p:nvPr/>
        </p:nvSpPr>
        <p:spPr>
          <a:xfrm>
            <a:off x="438912" y="5010912"/>
            <a:ext cx="2606040" cy="457200"/>
          </a:xfrm>
          <a:prstGeom prst="roundRect">
            <a:avLst>
              <a:gd name="adj" fmla="val 10000"/>
            </a:avLst>
          </a:prstGeom>
          <a:solidFill>
            <a:srgbClr val="EFE9DE"/>
          </a:solidFill>
          <a:ln w="9525">
            <a:solidFill>
              <a:srgbClr val="5E5142"/>
            </a:solidFill>
          </a:ln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published norms for these games in NER languages</a:t>
            </a:r>
            <a:endParaRPr lang="en-US" sz="750" dirty="0"/>
          </a:p>
        </p:txBody>
      </p:sp>
      <p:sp>
        <p:nvSpPr>
          <p:cNvPr id="28" name="Shape 24"/>
          <p:cNvSpPr/>
          <p:nvPr/>
        </p:nvSpPr>
        <p:spPr>
          <a:xfrm>
            <a:off x="3108960" y="5239512"/>
            <a:ext cx="274320" cy="0"/>
          </a:xfrm>
          <a:prstGeom prst="line">
            <a:avLst/>
          </a:prstGeom>
          <a:noFill/>
          <a:ln w="19050">
            <a:solidFill>
              <a:srgbClr val="B5342A"/>
            </a:solidFill>
            <a:prstDash val="solid"/>
            <a:tailEnd type="triangle"/>
          </a:ln>
        </p:spPr>
      </p:sp>
      <p:sp>
        <p:nvSpPr>
          <p:cNvPr id="29" name="Text 25"/>
          <p:cNvSpPr txBox="1"/>
          <p:nvPr/>
        </p:nvSpPr>
        <p:spPr>
          <a:xfrm>
            <a:off x="3456432" y="5010912"/>
            <a:ext cx="2596896" cy="457200"/>
          </a:xfrm>
          <a:prstGeom prst="roundRect">
            <a:avLst>
              <a:gd name="adj" fmla="val 10000"/>
            </a:avLst>
          </a:prstGeom>
          <a:solidFill>
            <a:srgbClr val="D6E0D4"/>
          </a:solidFill>
          <a:ln w="9525">
            <a:solidFill>
              <a:srgbClr val="1F3D2E"/>
            </a:solidFill>
          </a:ln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comparison is within-person: we report change, not a diagnosis</a:t>
            </a:r>
            <a:endParaRPr lang="en-US" sz="750" dirty="0"/>
          </a:p>
        </p:txBody>
      </p:sp>
      <p:sp>
        <p:nvSpPr>
          <p:cNvPr id="30" name="Text 26"/>
          <p:cNvSpPr txBox="1"/>
          <p:nvPr/>
        </p:nvSpPr>
        <p:spPr>
          <a:xfrm>
            <a:off x="438912" y="5541264"/>
            <a:ext cx="2606040" cy="457200"/>
          </a:xfrm>
          <a:prstGeom prst="roundRect">
            <a:avLst>
              <a:gd name="adj" fmla="val 10000"/>
            </a:avLst>
          </a:prstGeom>
          <a:solidFill>
            <a:srgbClr val="EFE9DE"/>
          </a:solidFill>
          <a:ln w="9525">
            <a:solidFill>
              <a:srgbClr val="5E5142"/>
            </a:solidFill>
          </a:ln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literacy, tremor, presbyopia, weak network</a:t>
            </a:r>
            <a:endParaRPr lang="en-US" sz="750" dirty="0"/>
          </a:p>
        </p:txBody>
      </p:sp>
      <p:sp>
        <p:nvSpPr>
          <p:cNvPr id="31" name="Shape 27"/>
          <p:cNvSpPr/>
          <p:nvPr/>
        </p:nvSpPr>
        <p:spPr>
          <a:xfrm>
            <a:off x="3108960" y="5769864"/>
            <a:ext cx="274320" cy="0"/>
          </a:xfrm>
          <a:prstGeom prst="line">
            <a:avLst/>
          </a:prstGeom>
          <a:noFill/>
          <a:ln w="19050">
            <a:solidFill>
              <a:srgbClr val="B5342A"/>
            </a:solidFill>
            <a:prstDash val="solid"/>
            <a:tailEnd type="triangle"/>
          </a:ln>
        </p:spPr>
      </p:sp>
      <p:sp>
        <p:nvSpPr>
          <p:cNvPr id="32" name="Text 28"/>
          <p:cNvSpPr txBox="1"/>
          <p:nvPr/>
        </p:nvSpPr>
        <p:spPr>
          <a:xfrm>
            <a:off x="3456432" y="5541264"/>
            <a:ext cx="2596896" cy="457200"/>
          </a:xfrm>
          <a:prstGeom prst="roundRect">
            <a:avLst>
              <a:gd name="adj" fmla="val 10000"/>
            </a:avLst>
          </a:prstGeom>
          <a:solidFill>
            <a:srgbClr val="D6E0D4"/>
          </a:solidFill>
          <a:ln w="9525">
            <a:solidFill>
              <a:srgbClr val="1F3D2E"/>
            </a:solidFill>
          </a:ln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Voice-led, tap-only, 60 px targets, 7:1 contrast, fully offline</a:t>
            </a:r>
            <a:endParaRPr lang="en-US" sz="750" dirty="0"/>
          </a:p>
        </p:txBody>
      </p:sp>
      <p:sp>
        <p:nvSpPr>
          <p:cNvPr id="33" name="Text 29"/>
          <p:cNvSpPr txBox="1"/>
          <p:nvPr/>
        </p:nvSpPr>
        <p:spPr>
          <a:xfrm>
            <a:off x="438912" y="6071616"/>
            <a:ext cx="2606040" cy="457200"/>
          </a:xfrm>
          <a:prstGeom prst="roundRect">
            <a:avLst>
              <a:gd name="adj" fmla="val 10000"/>
            </a:avLst>
          </a:prstGeom>
          <a:solidFill>
            <a:srgbClr val="EFE9DE"/>
          </a:solidFill>
          <a:ln w="9525">
            <a:solidFill>
              <a:srgbClr val="5E5142"/>
            </a:solidFill>
          </a:ln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Over-claiming — FTC v. Lumos Labs, January 2016</a:t>
            </a:r>
            <a:endParaRPr lang="en-US" sz="750" dirty="0"/>
          </a:p>
        </p:txBody>
      </p:sp>
      <p:sp>
        <p:nvSpPr>
          <p:cNvPr id="34" name="Shape 30"/>
          <p:cNvSpPr/>
          <p:nvPr/>
        </p:nvSpPr>
        <p:spPr>
          <a:xfrm>
            <a:off x="3108960" y="6300216"/>
            <a:ext cx="274320" cy="0"/>
          </a:xfrm>
          <a:prstGeom prst="line">
            <a:avLst/>
          </a:prstGeom>
          <a:noFill/>
          <a:ln w="19050">
            <a:solidFill>
              <a:srgbClr val="B5342A"/>
            </a:solidFill>
            <a:prstDash val="solid"/>
            <a:tailEnd type="triangle"/>
          </a:ln>
        </p:spPr>
      </p:sp>
      <p:sp>
        <p:nvSpPr>
          <p:cNvPr id="35" name="Text 31"/>
          <p:cNvSpPr txBox="1"/>
          <p:nvPr/>
        </p:nvSpPr>
        <p:spPr>
          <a:xfrm>
            <a:off x="3456432" y="6071616"/>
            <a:ext cx="2596896" cy="457200"/>
          </a:xfrm>
          <a:prstGeom prst="roundRect">
            <a:avLst>
              <a:gd name="adj" fmla="val 10000"/>
            </a:avLst>
          </a:prstGeom>
          <a:solidFill>
            <a:srgbClr val="D6E0D4"/>
          </a:solidFill>
          <a:ln w="9525">
            <a:solidFill>
              <a:srgbClr val="1F3D2E"/>
            </a:solidFill>
          </a:ln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non-diagnostic scope, disclaimer on dashboard, PDF and slide 1</a:t>
            </a:r>
            <a:endParaRPr lang="en-US" sz="750" dirty="0"/>
          </a:p>
        </p:txBody>
      </p:sp>
      <p:sp>
        <p:nvSpPr>
          <p:cNvPr id="36" name="Shape 32"/>
          <p:cNvSpPr/>
          <p:nvPr/>
        </p:nvSpPr>
        <p:spPr>
          <a:xfrm>
            <a:off x="6400800" y="1078992"/>
            <a:ext cx="164592" cy="164592"/>
          </a:xfrm>
          <a:prstGeom prst="diamond">
            <a:avLst/>
          </a:prstGeom>
          <a:solidFill>
            <a:srgbClr val="A0731F"/>
          </a:solidFill>
          <a:ln w="6350">
            <a:solidFill>
              <a:srgbClr val="A0731F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6693408" y="960120"/>
            <a:ext cx="5221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Strategic Approach</a:t>
            </a:r>
            <a:endParaRPr lang="en-US" sz="1500" dirty="0"/>
          </a:p>
        </p:txBody>
      </p:sp>
      <p:sp>
        <p:nvSpPr>
          <p:cNvPr id="38" name="Shape 34"/>
          <p:cNvSpPr/>
          <p:nvPr/>
        </p:nvSpPr>
        <p:spPr>
          <a:xfrm>
            <a:off x="6400800" y="1508760"/>
            <a:ext cx="5513832" cy="5166360"/>
          </a:xfrm>
          <a:prstGeom prst="roundRect">
            <a:avLst>
              <a:gd name="adj" fmla="val 1062"/>
            </a:avLst>
          </a:prstGeom>
          <a:solidFill>
            <a:srgbClr val="FFFFFF"/>
          </a:solidFill>
          <a:ln w="15875">
            <a:solidFill>
              <a:srgbClr val="E2D9C9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6583680" y="1691640"/>
            <a:ext cx="2468880" cy="1536192"/>
          </a:xfrm>
          <a:prstGeom prst="roundRect">
            <a:avLst>
              <a:gd name="adj" fmla="val 3571"/>
            </a:avLst>
          </a:prstGeom>
          <a:solidFill>
            <a:srgbClr val="EFE9DE"/>
          </a:solidFill>
          <a:ln w="12700">
            <a:solidFill>
              <a:srgbClr val="A0731F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6693408" y="1783080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8A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Errorless by design</a:t>
            </a:r>
            <a:endParaRPr lang="en-US" sz="1000" dirty="0"/>
          </a:p>
        </p:txBody>
      </p:sp>
      <p:sp>
        <p:nvSpPr>
          <p:cNvPr id="41" name="Text 37"/>
          <p:cNvSpPr txBox="1"/>
          <p:nvPr/>
        </p:nvSpPr>
        <p:spPr>
          <a:xfrm>
            <a:off x="6693408" y="2039112"/>
            <a:ext cx="224942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patient-facing surface ever indicates that the patient was wrong. No red, no buzzer, no score.</a:t>
            </a:r>
            <a:endParaRPr lang="en-US" sz="850" dirty="0"/>
          </a:p>
        </p:txBody>
      </p:sp>
      <p:sp>
        <p:nvSpPr>
          <p:cNvPr id="42" name="Shape 38"/>
          <p:cNvSpPr/>
          <p:nvPr/>
        </p:nvSpPr>
        <p:spPr>
          <a:xfrm>
            <a:off x="9281160" y="1691640"/>
            <a:ext cx="2468880" cy="1536192"/>
          </a:xfrm>
          <a:prstGeom prst="roundRect">
            <a:avLst>
              <a:gd name="adj" fmla="val 3571"/>
            </a:avLst>
          </a:prstGeom>
          <a:solidFill>
            <a:srgbClr val="EFE9DE"/>
          </a:solidFill>
          <a:ln w="12700">
            <a:solidFill>
              <a:srgbClr val="A0731F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9390888" y="1783080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8A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 rate, not accuracy</a:t>
            </a:r>
            <a:endParaRPr lang="en-US" sz="1000" dirty="0"/>
          </a:p>
        </p:txBody>
      </p:sp>
      <p:sp>
        <p:nvSpPr>
          <p:cNvPr id="44" name="Text 40"/>
          <p:cNvSpPr txBox="1"/>
          <p:nvPr/>
        </p:nvSpPr>
        <p:spPr>
          <a:xfrm>
            <a:off x="9390888" y="2039112"/>
            <a:ext cx="224942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prevent the error before it happens, then record that a hint was needed. Accuracy is inflated by design and we say so.</a:t>
            </a:r>
            <a:endParaRPr lang="en-US" sz="850" dirty="0"/>
          </a:p>
        </p:txBody>
      </p:sp>
      <p:sp>
        <p:nvSpPr>
          <p:cNvPr id="45" name="Shape 41"/>
          <p:cNvSpPr/>
          <p:nvPr/>
        </p:nvSpPr>
        <p:spPr>
          <a:xfrm>
            <a:off x="6583680" y="3355848"/>
            <a:ext cx="2468880" cy="1536192"/>
          </a:xfrm>
          <a:prstGeom prst="roundRect">
            <a:avLst>
              <a:gd name="adj" fmla="val 3571"/>
            </a:avLst>
          </a:prstGeom>
          <a:solidFill>
            <a:srgbClr val="EFE9DE"/>
          </a:solidFill>
          <a:ln w="12700">
            <a:solidFill>
              <a:srgbClr val="A0731F"/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6693408" y="3447288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8A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Variability as the signal</a:t>
            </a:r>
            <a:endParaRPr lang="en-US" sz="1000" dirty="0"/>
          </a:p>
        </p:txBody>
      </p:sp>
      <p:sp>
        <p:nvSpPr>
          <p:cNvPr id="47" name="Text 43"/>
          <p:cNvSpPr txBox="1"/>
          <p:nvPr/>
        </p:nvSpPr>
        <p:spPr>
          <a:xfrm>
            <a:off x="6693408" y="3703320"/>
            <a:ext cx="224942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Reaction-time variability is the marker. Dhol Bator measures it with almost no cognitive load layered on top.</a:t>
            </a:r>
            <a:endParaRPr lang="en-US" sz="850" dirty="0"/>
          </a:p>
        </p:txBody>
      </p:sp>
      <p:sp>
        <p:nvSpPr>
          <p:cNvPr id="48" name="Shape 44"/>
          <p:cNvSpPr/>
          <p:nvPr/>
        </p:nvSpPr>
        <p:spPr>
          <a:xfrm>
            <a:off x="9281160" y="3355848"/>
            <a:ext cx="2468880" cy="1536192"/>
          </a:xfrm>
          <a:prstGeom prst="roundRect">
            <a:avLst>
              <a:gd name="adj" fmla="val 3571"/>
            </a:avLst>
          </a:prstGeom>
          <a:solidFill>
            <a:srgbClr val="EFE9DE"/>
          </a:solidFill>
          <a:ln w="12700">
            <a:solidFill>
              <a:srgbClr val="A0731F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9390888" y="3447288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8A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about the AI</a:t>
            </a:r>
            <a:endParaRPr lang="en-US" sz="1000" dirty="0"/>
          </a:p>
        </p:txBody>
      </p:sp>
      <p:sp>
        <p:nvSpPr>
          <p:cNvPr id="50" name="Text 46"/>
          <p:cNvSpPr txBox="1"/>
          <p:nvPr/>
        </p:nvSpPr>
        <p:spPr>
          <a:xfrm>
            <a:off x="9390888" y="3703320"/>
            <a:ext cx="224942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adaptive difficulty today, on a telemetry schema deliberately built so a model can be trained on it later.</a:t>
            </a:r>
            <a:endParaRPr lang="en-US" sz="850" dirty="0"/>
          </a:p>
        </p:txBody>
      </p:sp>
      <p:sp>
        <p:nvSpPr>
          <p:cNvPr id="51" name="Shape 47"/>
          <p:cNvSpPr/>
          <p:nvPr/>
        </p:nvSpPr>
        <p:spPr>
          <a:xfrm>
            <a:off x="6583680" y="5020056"/>
            <a:ext cx="2468880" cy="1536192"/>
          </a:xfrm>
          <a:prstGeom prst="roundRect">
            <a:avLst>
              <a:gd name="adj" fmla="val 3571"/>
            </a:avLst>
          </a:prstGeom>
          <a:solidFill>
            <a:srgbClr val="EFE9DE"/>
          </a:solidFill>
          <a:ln w="12700">
            <a:solidFill>
              <a:srgbClr val="A0731F"/>
            </a:solidFill>
            <a:prstDash val="solid"/>
          </a:ln>
        </p:spPr>
      </p:sp>
      <p:sp>
        <p:nvSpPr>
          <p:cNvPr id="52" name="Text 48"/>
          <p:cNvSpPr txBox="1"/>
          <p:nvPr/>
        </p:nvSpPr>
        <p:spPr>
          <a:xfrm>
            <a:off x="6693408" y="5111496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8A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that holds up</a:t>
            </a:r>
            <a:endParaRPr lang="en-US" sz="1000" dirty="0"/>
          </a:p>
        </p:txBody>
      </p:sp>
      <p:sp>
        <p:nvSpPr>
          <p:cNvPr id="53" name="Text 49"/>
          <p:cNvSpPr txBox="1"/>
          <p:nvPr/>
        </p:nvSpPr>
        <p:spPr>
          <a:xfrm>
            <a:off x="6693408" y="5367528"/>
            <a:ext cx="224942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guardian consent under DPDP 2023 + Rules 2025, scoped toggles, audit trail, data resident in Mumbai.</a:t>
            </a:r>
            <a:endParaRPr lang="en-US" sz="850" dirty="0"/>
          </a:p>
        </p:txBody>
      </p:sp>
      <p:sp>
        <p:nvSpPr>
          <p:cNvPr id="54" name="Shape 50"/>
          <p:cNvSpPr/>
          <p:nvPr/>
        </p:nvSpPr>
        <p:spPr>
          <a:xfrm>
            <a:off x="9281160" y="5020056"/>
            <a:ext cx="2468880" cy="1536192"/>
          </a:xfrm>
          <a:prstGeom prst="roundRect">
            <a:avLst>
              <a:gd name="adj" fmla="val 3571"/>
            </a:avLst>
          </a:prstGeom>
          <a:solidFill>
            <a:srgbClr val="EFE9DE"/>
          </a:solidFill>
          <a:ln w="12700">
            <a:solidFill>
              <a:srgbClr val="A0731F"/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9390888" y="5111496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8A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deployment path</a:t>
            </a:r>
            <a:endParaRPr lang="en-US" sz="1000" dirty="0"/>
          </a:p>
        </p:txBody>
      </p:sp>
      <p:sp>
        <p:nvSpPr>
          <p:cNvPr id="56" name="Text 52"/>
          <p:cNvSpPr txBox="1"/>
          <p:nvPr/>
        </p:nvSpPr>
        <p:spPr>
          <a:xfrm>
            <a:off x="9390888" y="5367528"/>
            <a:ext cx="224942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NPHCE as the channel and ASHA workers as the last mile — not an app store listing.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65176"/>
            <a:ext cx="585216" cy="585216"/>
          </a:xfrm>
          <a:prstGeom prst="ellipse">
            <a:avLst/>
          </a:prstGeom>
          <a:solidFill>
            <a:srgbClr val="1F3D2E"/>
          </a:solidFill>
          <a:ln w="12700">
            <a:solidFill>
              <a:srgbClr val="1F3D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26517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E9D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060704" y="237744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AND BENEFITS</a:t>
            </a:r>
            <a:endParaRPr lang="en-US" sz="2600" dirty="0"/>
          </a:p>
        </p:txBody>
      </p:sp>
      <p:pic>
        <p:nvPicPr>
          <p:cNvPr id="5" name="Image 0" descr="ic_hornbill_br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35824" y="292608"/>
            <a:ext cx="530352" cy="53035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357616" y="29260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5E5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Overfitters Anonymous</a:t>
            </a:r>
            <a:endParaRPr lang="en-US" sz="1150" dirty="0"/>
          </a:p>
        </p:txBody>
      </p:sp>
      <p:pic>
        <p:nvPicPr>
          <p:cNvPr id="7" name="Image 1" descr="logo_202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146304"/>
            <a:ext cx="1463040" cy="74066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74320" y="1078992"/>
            <a:ext cx="164592" cy="164592"/>
          </a:xfrm>
          <a:prstGeom prst="diamond">
            <a:avLst/>
          </a:prstGeom>
          <a:solidFill>
            <a:srgbClr val="A0731F"/>
          </a:solidFill>
          <a:ln w="6350">
            <a:solidFill>
              <a:srgbClr val="A0731F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66928" y="960120"/>
            <a:ext cx="5376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Benefits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245352" y="1078992"/>
            <a:ext cx="164592" cy="164592"/>
          </a:xfrm>
          <a:prstGeom prst="diamond">
            <a:avLst/>
          </a:prstGeom>
          <a:solidFill>
            <a:srgbClr val="A0731F"/>
          </a:solidFill>
          <a:ln w="6350">
            <a:solidFill>
              <a:srgbClr val="A0731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537960" y="960120"/>
            <a:ext cx="5376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 Impacts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274320" y="1481328"/>
            <a:ext cx="5669280" cy="3456432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15875">
            <a:solidFill>
              <a:srgbClr val="E2D9C9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11480" y="2880360"/>
            <a:ext cx="1051560" cy="777240"/>
          </a:xfrm>
          <a:prstGeom prst="roundRect">
            <a:avLst>
              <a:gd name="adj" fmla="val 5882"/>
            </a:avLst>
          </a:prstGeom>
          <a:solidFill>
            <a:srgbClr val="23201B"/>
          </a:solidFill>
          <a:ln w="9525">
            <a:solidFill>
              <a:srgbClr val="23201B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A07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XORAI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1874520" y="1645920"/>
            <a:ext cx="1965960" cy="457200"/>
          </a:xfrm>
          <a:prstGeom prst="roundRect">
            <a:avLst>
              <a:gd name="adj" fmla="val 10000"/>
            </a:avLst>
          </a:prstGeom>
          <a:solidFill>
            <a:srgbClr val="EFE9DE"/>
          </a:solidFill>
          <a:ln w="9525">
            <a:solidFill>
              <a:srgbClr val="5E514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cognitive engagement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 flipV="1">
            <a:off x="1481328" y="1874520"/>
            <a:ext cx="374904" cy="1389888"/>
          </a:xfrm>
          <a:prstGeom prst="line">
            <a:avLst/>
          </a:prstGeom>
          <a:noFill/>
          <a:ln w="15875">
            <a:solidFill>
              <a:srgbClr val="5E5142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3858768" y="1874520"/>
            <a:ext cx="347472" cy="1389888"/>
          </a:xfrm>
          <a:prstGeom prst="line">
            <a:avLst/>
          </a:prstGeom>
          <a:noFill/>
          <a:ln w="15875">
            <a:solidFill>
              <a:srgbClr val="5E5142"/>
            </a:solidFill>
            <a:prstDash val="solid"/>
            <a:tailEnd type="triangle"/>
          </a:ln>
        </p:spPr>
      </p:sp>
      <p:sp>
        <p:nvSpPr>
          <p:cNvPr id="17" name="Text 13"/>
          <p:cNvSpPr txBox="1"/>
          <p:nvPr/>
        </p:nvSpPr>
        <p:spPr>
          <a:xfrm>
            <a:off x="1874520" y="2286000"/>
            <a:ext cx="1965960" cy="457200"/>
          </a:xfrm>
          <a:prstGeom prst="roundRect">
            <a:avLst>
              <a:gd name="adj" fmla="val 10000"/>
            </a:avLst>
          </a:prstGeom>
          <a:solidFill>
            <a:srgbClr val="EFE9DE"/>
          </a:solidFill>
          <a:ln w="9525">
            <a:solidFill>
              <a:srgbClr val="5E514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assistance at home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 flipV="1">
            <a:off x="1481328" y="2514600"/>
            <a:ext cx="374904" cy="749808"/>
          </a:xfrm>
          <a:prstGeom prst="line">
            <a:avLst/>
          </a:prstGeom>
          <a:noFill/>
          <a:ln w="15875">
            <a:solidFill>
              <a:srgbClr val="5E5142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3858768" y="2514600"/>
            <a:ext cx="347472" cy="749808"/>
          </a:xfrm>
          <a:prstGeom prst="line">
            <a:avLst/>
          </a:prstGeom>
          <a:noFill/>
          <a:ln w="15875">
            <a:solidFill>
              <a:srgbClr val="5E5142"/>
            </a:solidFill>
            <a:prstDash val="solid"/>
            <a:tailEnd type="triangle"/>
          </a:ln>
        </p:spPr>
      </p:sp>
      <p:sp>
        <p:nvSpPr>
          <p:cNvPr id="20" name="Text 16"/>
          <p:cNvSpPr txBox="1"/>
          <p:nvPr/>
        </p:nvSpPr>
        <p:spPr>
          <a:xfrm>
            <a:off x="1874520" y="2926080"/>
            <a:ext cx="1965960" cy="457200"/>
          </a:xfrm>
          <a:prstGeom prst="roundRect">
            <a:avLst>
              <a:gd name="adj" fmla="val 10000"/>
            </a:avLst>
          </a:prstGeom>
          <a:solidFill>
            <a:srgbClr val="EFE9DE"/>
          </a:solidFill>
          <a:ln w="9525">
            <a:solidFill>
              <a:srgbClr val="5E514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objective longitudinal record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 flipV="1">
            <a:off x="1481328" y="3154680"/>
            <a:ext cx="374904" cy="109728"/>
          </a:xfrm>
          <a:prstGeom prst="line">
            <a:avLst/>
          </a:prstGeom>
          <a:noFill/>
          <a:ln w="15875">
            <a:solidFill>
              <a:srgbClr val="5E5142"/>
            </a:solidFill>
            <a:prstDash val="solid"/>
            <a:tailEnd type="triangle"/>
          </a:ln>
        </p:spPr>
      </p:sp>
      <p:sp>
        <p:nvSpPr>
          <p:cNvPr id="22" name="Shape 18"/>
          <p:cNvSpPr/>
          <p:nvPr/>
        </p:nvSpPr>
        <p:spPr>
          <a:xfrm>
            <a:off x="3858768" y="3154680"/>
            <a:ext cx="347472" cy="109728"/>
          </a:xfrm>
          <a:prstGeom prst="line">
            <a:avLst/>
          </a:prstGeom>
          <a:noFill/>
          <a:ln w="15875">
            <a:solidFill>
              <a:srgbClr val="5E5142"/>
            </a:solidFill>
            <a:prstDash val="solid"/>
            <a:tailEnd type="triangle"/>
          </a:ln>
        </p:spPr>
      </p:sp>
      <p:sp>
        <p:nvSpPr>
          <p:cNvPr id="23" name="Text 19"/>
          <p:cNvSpPr txBox="1"/>
          <p:nvPr/>
        </p:nvSpPr>
        <p:spPr>
          <a:xfrm>
            <a:off x="1874520" y="3566160"/>
            <a:ext cx="1965960" cy="457200"/>
          </a:xfrm>
          <a:prstGeom prst="roundRect">
            <a:avLst>
              <a:gd name="adj" fmla="val 10000"/>
            </a:avLst>
          </a:prstGeom>
          <a:solidFill>
            <a:srgbClr val="EFE9DE"/>
          </a:solidFill>
          <a:ln w="9525">
            <a:solidFill>
              <a:srgbClr val="5E514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with no network at all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1481328" y="3264408"/>
            <a:ext cx="374904" cy="530352"/>
          </a:xfrm>
          <a:prstGeom prst="line">
            <a:avLst/>
          </a:prstGeom>
          <a:noFill/>
          <a:ln w="15875">
            <a:solidFill>
              <a:srgbClr val="5E5142"/>
            </a:solidFill>
            <a:prstDash val="solid"/>
            <a:tailEnd type="triangle"/>
          </a:ln>
        </p:spPr>
      </p:sp>
      <p:sp>
        <p:nvSpPr>
          <p:cNvPr id="25" name="Shape 21"/>
          <p:cNvSpPr/>
          <p:nvPr/>
        </p:nvSpPr>
        <p:spPr>
          <a:xfrm flipV="1">
            <a:off x="3858768" y="3264408"/>
            <a:ext cx="347472" cy="530352"/>
          </a:xfrm>
          <a:prstGeom prst="line">
            <a:avLst/>
          </a:prstGeom>
          <a:noFill/>
          <a:ln w="15875">
            <a:solidFill>
              <a:srgbClr val="5E5142"/>
            </a:solidFill>
            <a:prstDash val="solid"/>
            <a:tailEnd type="triangle"/>
          </a:ln>
        </p:spPr>
      </p:sp>
      <p:sp>
        <p:nvSpPr>
          <p:cNvPr id="26" name="Text 22"/>
          <p:cNvSpPr txBox="1"/>
          <p:nvPr/>
        </p:nvSpPr>
        <p:spPr>
          <a:xfrm>
            <a:off x="1874520" y="4206240"/>
            <a:ext cx="1965960" cy="457200"/>
          </a:xfrm>
          <a:prstGeom prst="roundRect">
            <a:avLst>
              <a:gd name="adj" fmla="val 10000"/>
            </a:avLst>
          </a:prstGeom>
          <a:solidFill>
            <a:srgbClr val="EFE9DE"/>
          </a:solidFill>
          <a:ln w="9525">
            <a:solidFill>
              <a:srgbClr val="5E514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caregiver who is not guessing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1481328" y="3264408"/>
            <a:ext cx="374904" cy="1170432"/>
          </a:xfrm>
          <a:prstGeom prst="line">
            <a:avLst/>
          </a:prstGeom>
          <a:noFill/>
          <a:ln w="15875">
            <a:solidFill>
              <a:srgbClr val="5E5142"/>
            </a:solidFill>
            <a:prstDash val="solid"/>
            <a:tailEnd type="triangle"/>
          </a:ln>
        </p:spPr>
      </p:sp>
      <p:sp>
        <p:nvSpPr>
          <p:cNvPr id="28" name="Shape 24"/>
          <p:cNvSpPr/>
          <p:nvPr/>
        </p:nvSpPr>
        <p:spPr>
          <a:xfrm flipV="1">
            <a:off x="3858768" y="3264408"/>
            <a:ext cx="347472" cy="1170432"/>
          </a:xfrm>
          <a:prstGeom prst="line">
            <a:avLst/>
          </a:prstGeom>
          <a:noFill/>
          <a:ln w="15875">
            <a:solidFill>
              <a:srgbClr val="5E5142"/>
            </a:solidFill>
            <a:prstDash val="solid"/>
            <a:tailEnd type="triangle"/>
          </a:ln>
        </p:spPr>
      </p:sp>
      <p:sp>
        <p:nvSpPr>
          <p:cNvPr id="29" name="Text 25"/>
          <p:cNvSpPr txBox="1"/>
          <p:nvPr/>
        </p:nvSpPr>
        <p:spPr>
          <a:xfrm>
            <a:off x="4187952" y="2606040"/>
            <a:ext cx="1664208" cy="1325880"/>
          </a:xfrm>
          <a:prstGeom prst="roundRect">
            <a:avLst>
              <a:gd name="adj" fmla="val 3448"/>
            </a:avLst>
          </a:prstGeom>
          <a:solidFill>
            <a:srgbClr val="E9D9AE"/>
          </a:solidFill>
          <a:ln w="19050">
            <a:solidFill>
              <a:srgbClr val="A0731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benefit:</a:t>
            </a:r>
            <a:endParaRPr lang="en-US" sz="8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earlier, cheaper detection of change — and real daily support at home</a:t>
            </a:r>
            <a:endParaRPr lang="en-US" sz="800" dirty="0"/>
          </a:p>
        </p:txBody>
      </p:sp>
      <p:sp>
        <p:nvSpPr>
          <p:cNvPr id="30" name="Shape 26"/>
          <p:cNvSpPr/>
          <p:nvPr/>
        </p:nvSpPr>
        <p:spPr>
          <a:xfrm>
            <a:off x="6245352" y="1481328"/>
            <a:ext cx="5669280" cy="3456432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15875">
            <a:solidFill>
              <a:srgbClr val="E2D9C9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6382512" y="1664208"/>
            <a:ext cx="1737360" cy="548640"/>
          </a:xfrm>
          <a:prstGeom prst="roundRect">
            <a:avLst>
              <a:gd name="adj" fmla="val 8333"/>
            </a:avLst>
          </a:prstGeom>
          <a:solidFill>
            <a:srgbClr val="D6E0D4"/>
          </a:solidFill>
          <a:ln w="9525">
            <a:solidFill>
              <a:srgbClr val="1F3D2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750" dirty="0"/>
          </a:p>
        </p:txBody>
      </p:sp>
      <p:sp>
        <p:nvSpPr>
          <p:cNvPr id="32" name="Shape 28"/>
          <p:cNvSpPr/>
          <p:nvPr/>
        </p:nvSpPr>
        <p:spPr>
          <a:xfrm>
            <a:off x="8129016" y="1938528"/>
            <a:ext cx="91440" cy="0"/>
          </a:xfrm>
          <a:prstGeom prst="line">
            <a:avLst/>
          </a:prstGeom>
          <a:noFill/>
          <a:ln w="15875">
            <a:solidFill>
              <a:srgbClr val="5E5142"/>
            </a:solidFill>
            <a:prstDash val="solid"/>
            <a:tailEnd type="triangle"/>
          </a:ln>
        </p:spPr>
      </p:sp>
      <p:sp>
        <p:nvSpPr>
          <p:cNvPr id="33" name="Text 29"/>
          <p:cNvSpPr txBox="1"/>
          <p:nvPr/>
        </p:nvSpPr>
        <p:spPr>
          <a:xfrm>
            <a:off x="8257032" y="1664208"/>
            <a:ext cx="1737360" cy="548640"/>
          </a:xfrm>
          <a:prstGeom prst="roundRect">
            <a:avLst>
              <a:gd name="adj" fmla="val 8333"/>
            </a:avLst>
          </a:prstGeom>
          <a:solidFill>
            <a:srgbClr val="EFE9DE"/>
          </a:solidFill>
          <a:ln w="9525">
            <a:solidFill>
              <a:srgbClr val="5E514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routine, orientation, familiar faces</a:t>
            </a:r>
            <a:endParaRPr lang="en-US" sz="750" dirty="0"/>
          </a:p>
        </p:txBody>
      </p:sp>
      <p:sp>
        <p:nvSpPr>
          <p:cNvPr id="34" name="Shape 30"/>
          <p:cNvSpPr/>
          <p:nvPr/>
        </p:nvSpPr>
        <p:spPr>
          <a:xfrm>
            <a:off x="10003536" y="1938528"/>
            <a:ext cx="91440" cy="0"/>
          </a:xfrm>
          <a:prstGeom prst="line">
            <a:avLst/>
          </a:prstGeom>
          <a:noFill/>
          <a:ln w="15875">
            <a:solidFill>
              <a:srgbClr val="5E5142"/>
            </a:solidFill>
            <a:prstDash val="solid"/>
            <a:tailEnd type="triangle"/>
          </a:ln>
        </p:spPr>
      </p:sp>
      <p:sp>
        <p:nvSpPr>
          <p:cNvPr id="35" name="Text 31"/>
          <p:cNvSpPr txBox="1"/>
          <p:nvPr/>
        </p:nvSpPr>
        <p:spPr>
          <a:xfrm>
            <a:off x="10131552" y="1664208"/>
            <a:ext cx="1737360" cy="548640"/>
          </a:xfrm>
          <a:prstGeom prst="roundRect">
            <a:avLst>
              <a:gd name="adj" fmla="val 8333"/>
            </a:avLst>
          </a:prstGeom>
          <a:solidFill>
            <a:srgbClr val="E9D9AE"/>
          </a:solidFill>
          <a:ln w="9525">
            <a:solidFill>
              <a:srgbClr val="A0731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Dignity and calmer days</a:t>
            </a:r>
            <a:endParaRPr lang="en-US" sz="750" dirty="0"/>
          </a:p>
        </p:txBody>
      </p:sp>
      <p:sp>
        <p:nvSpPr>
          <p:cNvPr id="36" name="Text 32"/>
          <p:cNvSpPr txBox="1"/>
          <p:nvPr/>
        </p:nvSpPr>
        <p:spPr>
          <a:xfrm>
            <a:off x="6382512" y="2322576"/>
            <a:ext cx="1737360" cy="548640"/>
          </a:xfrm>
          <a:prstGeom prst="roundRect">
            <a:avLst>
              <a:gd name="adj" fmla="val 8333"/>
            </a:avLst>
          </a:prstGeom>
          <a:solidFill>
            <a:srgbClr val="D6E0D4"/>
          </a:solidFill>
          <a:ln w="9525">
            <a:solidFill>
              <a:srgbClr val="1F3D2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caregivers</a:t>
            </a:r>
            <a:endParaRPr lang="en-US" sz="750" dirty="0"/>
          </a:p>
        </p:txBody>
      </p:sp>
      <p:sp>
        <p:nvSpPr>
          <p:cNvPr id="37" name="Shape 33"/>
          <p:cNvSpPr/>
          <p:nvPr/>
        </p:nvSpPr>
        <p:spPr>
          <a:xfrm>
            <a:off x="8129016" y="2596896"/>
            <a:ext cx="91440" cy="0"/>
          </a:xfrm>
          <a:prstGeom prst="line">
            <a:avLst/>
          </a:prstGeom>
          <a:noFill/>
          <a:ln w="15875">
            <a:solidFill>
              <a:srgbClr val="5E5142"/>
            </a:solidFill>
            <a:prstDash val="solid"/>
            <a:tailEnd type="triangle"/>
          </a:ln>
        </p:spPr>
      </p:sp>
      <p:sp>
        <p:nvSpPr>
          <p:cNvPr id="38" name="Text 34"/>
          <p:cNvSpPr txBox="1"/>
          <p:nvPr/>
        </p:nvSpPr>
        <p:spPr>
          <a:xfrm>
            <a:off x="8257032" y="2322576"/>
            <a:ext cx="1737360" cy="548640"/>
          </a:xfrm>
          <a:prstGeom prst="roundRect">
            <a:avLst>
              <a:gd name="adj" fmla="val 8333"/>
            </a:avLst>
          </a:prstGeom>
          <a:solidFill>
            <a:srgbClr val="EFE9DE"/>
          </a:solidFill>
          <a:ln w="9525">
            <a:solidFill>
              <a:srgbClr val="5E514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trends, reminders, plain-language flags</a:t>
            </a:r>
            <a:endParaRPr lang="en-US" sz="750" dirty="0"/>
          </a:p>
        </p:txBody>
      </p:sp>
      <p:sp>
        <p:nvSpPr>
          <p:cNvPr id="39" name="Shape 35"/>
          <p:cNvSpPr/>
          <p:nvPr/>
        </p:nvSpPr>
        <p:spPr>
          <a:xfrm>
            <a:off x="10003536" y="2596896"/>
            <a:ext cx="91440" cy="0"/>
          </a:xfrm>
          <a:prstGeom prst="line">
            <a:avLst/>
          </a:prstGeom>
          <a:noFill/>
          <a:ln w="15875">
            <a:solidFill>
              <a:srgbClr val="5E5142"/>
            </a:solidFill>
            <a:prstDash val="solid"/>
            <a:tailEnd type="triangle"/>
          </a:ln>
        </p:spPr>
      </p:sp>
      <p:sp>
        <p:nvSpPr>
          <p:cNvPr id="40" name="Text 36"/>
          <p:cNvSpPr txBox="1"/>
          <p:nvPr/>
        </p:nvSpPr>
        <p:spPr>
          <a:xfrm>
            <a:off x="10131552" y="2322576"/>
            <a:ext cx="1737360" cy="548640"/>
          </a:xfrm>
          <a:prstGeom prst="roundRect">
            <a:avLst>
              <a:gd name="adj" fmla="val 8333"/>
            </a:avLst>
          </a:prstGeom>
          <a:solidFill>
            <a:srgbClr val="E9D9AE"/>
          </a:solidFill>
          <a:ln w="9525">
            <a:solidFill>
              <a:srgbClr val="A0731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guesswork, less burden</a:t>
            </a:r>
            <a:endParaRPr lang="en-US" sz="750" dirty="0"/>
          </a:p>
        </p:txBody>
      </p:sp>
      <p:sp>
        <p:nvSpPr>
          <p:cNvPr id="41" name="Text 37"/>
          <p:cNvSpPr txBox="1"/>
          <p:nvPr/>
        </p:nvSpPr>
        <p:spPr>
          <a:xfrm>
            <a:off x="6382512" y="2980944"/>
            <a:ext cx="1737360" cy="548640"/>
          </a:xfrm>
          <a:prstGeom prst="roundRect">
            <a:avLst>
              <a:gd name="adj" fmla="val 8333"/>
            </a:avLst>
          </a:prstGeom>
          <a:solidFill>
            <a:srgbClr val="D6E0D4"/>
          </a:solidFill>
          <a:ln w="9525">
            <a:solidFill>
              <a:srgbClr val="1F3D2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— NEIGRIHMS / AIIMS</a:t>
            </a:r>
            <a:endParaRPr lang="en-US" sz="750" dirty="0"/>
          </a:p>
        </p:txBody>
      </p:sp>
      <p:sp>
        <p:nvSpPr>
          <p:cNvPr id="42" name="Shape 38"/>
          <p:cNvSpPr/>
          <p:nvPr/>
        </p:nvSpPr>
        <p:spPr>
          <a:xfrm>
            <a:off x="8129016" y="3255264"/>
            <a:ext cx="91440" cy="0"/>
          </a:xfrm>
          <a:prstGeom prst="line">
            <a:avLst/>
          </a:prstGeom>
          <a:noFill/>
          <a:ln w="15875">
            <a:solidFill>
              <a:srgbClr val="5E5142"/>
            </a:solidFill>
            <a:prstDash val="solid"/>
            <a:tailEnd type="triangle"/>
          </a:ln>
        </p:spPr>
      </p:sp>
      <p:sp>
        <p:nvSpPr>
          <p:cNvPr id="43" name="Text 39"/>
          <p:cNvSpPr txBox="1"/>
          <p:nvPr/>
        </p:nvSpPr>
        <p:spPr>
          <a:xfrm>
            <a:off x="8257032" y="2980944"/>
            <a:ext cx="1737360" cy="548640"/>
          </a:xfrm>
          <a:prstGeom prst="roundRect">
            <a:avLst>
              <a:gd name="adj" fmla="val 8333"/>
            </a:avLst>
          </a:prstGeom>
          <a:solidFill>
            <a:srgbClr val="EFE9DE"/>
          </a:solidFill>
          <a:ln w="9525">
            <a:solidFill>
              <a:srgbClr val="5E514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PDF the family carries in</a:t>
            </a:r>
            <a:endParaRPr lang="en-US" sz="750" dirty="0"/>
          </a:p>
        </p:txBody>
      </p:sp>
      <p:sp>
        <p:nvSpPr>
          <p:cNvPr id="44" name="Shape 40"/>
          <p:cNvSpPr/>
          <p:nvPr/>
        </p:nvSpPr>
        <p:spPr>
          <a:xfrm>
            <a:off x="10003536" y="3255264"/>
            <a:ext cx="91440" cy="0"/>
          </a:xfrm>
          <a:prstGeom prst="line">
            <a:avLst/>
          </a:prstGeom>
          <a:noFill/>
          <a:ln w="15875">
            <a:solidFill>
              <a:srgbClr val="5E5142"/>
            </a:solidFill>
            <a:prstDash val="solid"/>
            <a:tailEnd type="triangle"/>
          </a:ln>
        </p:spPr>
      </p:sp>
      <p:sp>
        <p:nvSpPr>
          <p:cNvPr id="45" name="Text 41"/>
          <p:cNvSpPr txBox="1"/>
          <p:nvPr/>
        </p:nvSpPr>
        <p:spPr>
          <a:xfrm>
            <a:off x="10131552" y="2980944"/>
            <a:ext cx="1737360" cy="548640"/>
          </a:xfrm>
          <a:prstGeom prst="roundRect">
            <a:avLst>
              <a:gd name="adj" fmla="val 8333"/>
            </a:avLst>
          </a:prstGeom>
          <a:solidFill>
            <a:srgbClr val="E9D9AE"/>
          </a:solidFill>
          <a:ln w="9525">
            <a:solidFill>
              <a:srgbClr val="A0731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referral</a:t>
            </a:r>
            <a:endParaRPr lang="en-US" sz="750" dirty="0"/>
          </a:p>
        </p:txBody>
      </p:sp>
      <p:sp>
        <p:nvSpPr>
          <p:cNvPr id="46" name="Text 42"/>
          <p:cNvSpPr txBox="1"/>
          <p:nvPr/>
        </p:nvSpPr>
        <p:spPr>
          <a:xfrm>
            <a:off x="6382512" y="3639312"/>
            <a:ext cx="1737360" cy="548640"/>
          </a:xfrm>
          <a:prstGeom prst="roundRect">
            <a:avLst>
              <a:gd name="adj" fmla="val 8333"/>
            </a:avLst>
          </a:prstGeom>
          <a:solidFill>
            <a:srgbClr val="D6E0D4"/>
          </a:solidFill>
          <a:ln w="9525">
            <a:solidFill>
              <a:srgbClr val="1F3D2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ASHA workers / NPHCE</a:t>
            </a:r>
            <a:endParaRPr lang="en-US" sz="750" dirty="0"/>
          </a:p>
        </p:txBody>
      </p:sp>
      <p:sp>
        <p:nvSpPr>
          <p:cNvPr id="47" name="Shape 43"/>
          <p:cNvSpPr/>
          <p:nvPr/>
        </p:nvSpPr>
        <p:spPr>
          <a:xfrm>
            <a:off x="8129016" y="3913632"/>
            <a:ext cx="91440" cy="0"/>
          </a:xfrm>
          <a:prstGeom prst="line">
            <a:avLst/>
          </a:prstGeom>
          <a:noFill/>
          <a:ln w="15875">
            <a:solidFill>
              <a:srgbClr val="5E5142"/>
            </a:solidFill>
            <a:prstDash val="solid"/>
            <a:tailEnd type="triangle"/>
          </a:ln>
        </p:spPr>
      </p:sp>
      <p:sp>
        <p:nvSpPr>
          <p:cNvPr id="48" name="Text 44"/>
          <p:cNvSpPr txBox="1"/>
          <p:nvPr/>
        </p:nvSpPr>
        <p:spPr>
          <a:xfrm>
            <a:off x="8257032" y="3639312"/>
            <a:ext cx="1737360" cy="548640"/>
          </a:xfrm>
          <a:prstGeom prst="roundRect">
            <a:avLst>
              <a:gd name="adj" fmla="val 8333"/>
            </a:avLst>
          </a:prstGeom>
          <a:solidFill>
            <a:srgbClr val="EFE9DE"/>
          </a:solidFill>
          <a:ln w="9525">
            <a:solidFill>
              <a:srgbClr val="5E514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last-mile onboarding of families</a:t>
            </a:r>
            <a:endParaRPr lang="en-US" sz="750" dirty="0"/>
          </a:p>
        </p:txBody>
      </p:sp>
      <p:sp>
        <p:nvSpPr>
          <p:cNvPr id="49" name="Shape 45"/>
          <p:cNvSpPr/>
          <p:nvPr/>
        </p:nvSpPr>
        <p:spPr>
          <a:xfrm>
            <a:off x="10003536" y="3913632"/>
            <a:ext cx="91440" cy="0"/>
          </a:xfrm>
          <a:prstGeom prst="line">
            <a:avLst/>
          </a:prstGeom>
          <a:noFill/>
          <a:ln w="15875">
            <a:solidFill>
              <a:srgbClr val="5E5142"/>
            </a:solidFill>
            <a:prstDash val="solid"/>
            <a:tailEnd type="triangle"/>
          </a:ln>
        </p:spPr>
      </p:sp>
      <p:sp>
        <p:nvSpPr>
          <p:cNvPr id="50" name="Text 46"/>
          <p:cNvSpPr txBox="1"/>
          <p:nvPr/>
        </p:nvSpPr>
        <p:spPr>
          <a:xfrm>
            <a:off x="10131552" y="3639312"/>
            <a:ext cx="1737360" cy="548640"/>
          </a:xfrm>
          <a:prstGeom prst="roundRect">
            <a:avLst>
              <a:gd name="adj" fmla="val 8333"/>
            </a:avLst>
          </a:prstGeom>
          <a:solidFill>
            <a:srgbClr val="E9D9AE"/>
          </a:solidFill>
          <a:ln w="9525">
            <a:solidFill>
              <a:srgbClr val="A0731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into rural districts</a:t>
            </a:r>
            <a:endParaRPr lang="en-US" sz="750" dirty="0"/>
          </a:p>
        </p:txBody>
      </p:sp>
      <p:sp>
        <p:nvSpPr>
          <p:cNvPr id="51" name="Text 47"/>
          <p:cNvSpPr txBox="1"/>
          <p:nvPr/>
        </p:nvSpPr>
        <p:spPr>
          <a:xfrm>
            <a:off x="6382512" y="4297680"/>
            <a:ext cx="1737360" cy="548640"/>
          </a:xfrm>
          <a:prstGeom prst="roundRect">
            <a:avLst>
              <a:gd name="adj" fmla="val 8333"/>
            </a:avLst>
          </a:prstGeom>
          <a:solidFill>
            <a:srgbClr val="D6E0D4"/>
          </a:solidFill>
          <a:ln w="9525">
            <a:solidFill>
              <a:srgbClr val="1F3D2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MDoNER / State health</a:t>
            </a:r>
            <a:endParaRPr lang="en-US" sz="750" dirty="0"/>
          </a:p>
        </p:txBody>
      </p:sp>
      <p:sp>
        <p:nvSpPr>
          <p:cNvPr id="52" name="Shape 48"/>
          <p:cNvSpPr/>
          <p:nvPr/>
        </p:nvSpPr>
        <p:spPr>
          <a:xfrm>
            <a:off x="8129016" y="4572000"/>
            <a:ext cx="91440" cy="0"/>
          </a:xfrm>
          <a:prstGeom prst="line">
            <a:avLst/>
          </a:prstGeom>
          <a:noFill/>
          <a:ln w="15875">
            <a:solidFill>
              <a:srgbClr val="5E5142"/>
            </a:solidFill>
            <a:prstDash val="solid"/>
            <a:tailEnd type="triangle"/>
          </a:ln>
        </p:spPr>
      </p:sp>
      <p:sp>
        <p:nvSpPr>
          <p:cNvPr id="53" name="Text 49"/>
          <p:cNvSpPr txBox="1"/>
          <p:nvPr/>
        </p:nvSpPr>
        <p:spPr>
          <a:xfrm>
            <a:off x="8257032" y="4297680"/>
            <a:ext cx="1737360" cy="548640"/>
          </a:xfrm>
          <a:prstGeom prst="roundRect">
            <a:avLst>
              <a:gd name="adj" fmla="val 8333"/>
            </a:avLst>
          </a:prstGeom>
          <a:solidFill>
            <a:srgbClr val="EFE9DE"/>
          </a:solidFill>
          <a:ln w="9525">
            <a:solidFill>
              <a:srgbClr val="5E514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aggregate, consented insight</a:t>
            </a:r>
            <a:endParaRPr lang="en-US" sz="750" dirty="0"/>
          </a:p>
        </p:txBody>
      </p:sp>
      <p:sp>
        <p:nvSpPr>
          <p:cNvPr id="54" name="Shape 50"/>
          <p:cNvSpPr/>
          <p:nvPr/>
        </p:nvSpPr>
        <p:spPr>
          <a:xfrm>
            <a:off x="10003536" y="4572000"/>
            <a:ext cx="91440" cy="0"/>
          </a:xfrm>
          <a:prstGeom prst="line">
            <a:avLst/>
          </a:prstGeom>
          <a:noFill/>
          <a:ln w="15875">
            <a:solidFill>
              <a:srgbClr val="5E5142"/>
            </a:solidFill>
            <a:prstDash val="solid"/>
            <a:tailEnd type="triangle"/>
          </a:ln>
        </p:spPr>
      </p:sp>
      <p:sp>
        <p:nvSpPr>
          <p:cNvPr id="55" name="Text 51"/>
          <p:cNvSpPr txBox="1"/>
          <p:nvPr/>
        </p:nvSpPr>
        <p:spPr>
          <a:xfrm>
            <a:off x="10131552" y="4297680"/>
            <a:ext cx="1737360" cy="548640"/>
          </a:xfrm>
          <a:prstGeom prst="roundRect">
            <a:avLst>
              <a:gd name="adj" fmla="val 8333"/>
            </a:avLst>
          </a:prstGeom>
          <a:solidFill>
            <a:srgbClr val="E9D9AE"/>
          </a:solidFill>
          <a:ln w="9525">
            <a:solidFill>
              <a:srgbClr val="A0731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for policy</a:t>
            </a:r>
            <a:endParaRPr lang="en-US" sz="750" dirty="0"/>
          </a:p>
        </p:txBody>
      </p:sp>
      <p:sp>
        <p:nvSpPr>
          <p:cNvPr id="56" name="Shape 52"/>
          <p:cNvSpPr/>
          <p:nvPr/>
        </p:nvSpPr>
        <p:spPr>
          <a:xfrm>
            <a:off x="274320" y="5257800"/>
            <a:ext cx="164592" cy="164592"/>
          </a:xfrm>
          <a:prstGeom prst="diamond">
            <a:avLst/>
          </a:prstGeom>
          <a:solidFill>
            <a:srgbClr val="A0731F"/>
          </a:solidFill>
          <a:ln w="6350">
            <a:solidFill>
              <a:srgbClr val="A0731F"/>
            </a:solidFill>
            <a:prstDash val="solid"/>
          </a:ln>
        </p:spPr>
      </p:sp>
      <p:sp>
        <p:nvSpPr>
          <p:cNvPr id="57" name="Text 53"/>
          <p:cNvSpPr txBox="1"/>
          <p:nvPr/>
        </p:nvSpPr>
        <p:spPr>
          <a:xfrm>
            <a:off x="566928" y="5138928"/>
            <a:ext cx="5193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Deployment, funding and scale-up</a:t>
            </a:r>
            <a:endParaRPr lang="en-US" sz="1500" dirty="0"/>
          </a:p>
        </p:txBody>
      </p:sp>
      <p:sp>
        <p:nvSpPr>
          <p:cNvPr id="58" name="Shape 54"/>
          <p:cNvSpPr/>
          <p:nvPr/>
        </p:nvSpPr>
        <p:spPr>
          <a:xfrm>
            <a:off x="274320" y="5559552"/>
            <a:ext cx="3749040" cy="1097280"/>
          </a:xfrm>
          <a:prstGeom prst="roundRect">
            <a:avLst>
              <a:gd name="adj" fmla="val 5000"/>
            </a:avLst>
          </a:prstGeom>
          <a:solidFill>
            <a:srgbClr val="EFE9DE"/>
          </a:solidFill>
          <a:ln w="12700">
            <a:solidFill>
              <a:srgbClr val="A0731F"/>
            </a:solidFill>
            <a:prstDash val="solid"/>
          </a:ln>
        </p:spPr>
      </p:sp>
      <p:sp>
        <p:nvSpPr>
          <p:cNvPr id="59" name="Text 55"/>
          <p:cNvSpPr txBox="1"/>
          <p:nvPr/>
        </p:nvSpPr>
        <p:spPr>
          <a:xfrm>
            <a:off x="402336" y="562356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8A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&amp; sustainability</a:t>
            </a:r>
            <a:endParaRPr lang="en-US" sz="1000" dirty="0"/>
          </a:p>
        </p:txBody>
      </p:sp>
      <p:sp>
        <p:nvSpPr>
          <p:cNvPr id="60" name="Text 56"/>
          <p:cNvSpPr txBox="1"/>
          <p:nvPr/>
        </p:nvSpPr>
        <p:spPr>
          <a:xfrm>
            <a:off x="420624" y="5870448"/>
            <a:ext cx="3456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95000"/>
              </a:lnSpc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NPHCE (MoHFW) as the deployment channel</a:t>
            </a:r>
            <a:endParaRPr lang="en-US" sz="750" dirty="0"/>
          </a:p>
          <a:p>
            <a:pPr algn="l" marL="342900" indent="-342900">
              <a:lnSpc>
                <a:spcPct val="95000"/>
              </a:lnSpc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MDoNER schemes for North East delivery</a:t>
            </a:r>
            <a:endParaRPr lang="en-US" sz="750" dirty="0"/>
          </a:p>
          <a:p>
            <a:pPr algn="l" marL="342900" indent="-342900">
              <a:lnSpc>
                <a:spcPct val="95000"/>
              </a:lnSpc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 from telecom and IT partners</a:t>
            </a:r>
            <a:endParaRPr lang="en-US" sz="750" dirty="0"/>
          </a:p>
          <a:p>
            <a:pPr algn="l" marL="342900" indent="-342900">
              <a:lnSpc>
                <a:spcPct val="95000"/>
              </a:lnSpc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health budgets for tablet supply</a:t>
            </a:r>
            <a:endParaRPr lang="en-US" sz="750" dirty="0"/>
          </a:p>
        </p:txBody>
      </p:sp>
      <p:sp>
        <p:nvSpPr>
          <p:cNvPr id="61" name="Shape 57"/>
          <p:cNvSpPr/>
          <p:nvPr/>
        </p:nvSpPr>
        <p:spPr>
          <a:xfrm>
            <a:off x="4224528" y="5559552"/>
            <a:ext cx="3749040" cy="1097280"/>
          </a:xfrm>
          <a:prstGeom prst="roundRect">
            <a:avLst>
              <a:gd name="adj" fmla="val 5000"/>
            </a:avLst>
          </a:prstGeom>
          <a:solidFill>
            <a:srgbClr val="EFE9DE"/>
          </a:solidFill>
          <a:ln w="12700">
            <a:solidFill>
              <a:srgbClr val="A0731F"/>
            </a:solidFill>
            <a:prstDash val="solid"/>
          </a:ln>
        </p:spPr>
      </p:sp>
      <p:sp>
        <p:nvSpPr>
          <p:cNvPr id="62" name="Text 58"/>
          <p:cNvSpPr txBox="1"/>
          <p:nvPr/>
        </p:nvSpPr>
        <p:spPr>
          <a:xfrm>
            <a:off x="4352544" y="562356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8A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model</a:t>
            </a:r>
            <a:endParaRPr lang="en-US" sz="1000" dirty="0"/>
          </a:p>
        </p:txBody>
      </p:sp>
      <p:sp>
        <p:nvSpPr>
          <p:cNvPr id="63" name="Text 59"/>
          <p:cNvSpPr txBox="1"/>
          <p:nvPr/>
        </p:nvSpPr>
        <p:spPr>
          <a:xfrm>
            <a:off x="4370832" y="5870448"/>
            <a:ext cx="3456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95000"/>
              </a:lnSpc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₹8–12k Android tablet per household</a:t>
            </a:r>
            <a:endParaRPr lang="en-US" sz="750" dirty="0"/>
          </a:p>
          <a:p>
            <a:pPr algn="l" marL="342900" indent="-342900">
              <a:lnSpc>
                <a:spcPct val="95000"/>
              </a:lnSpc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per-session inference cost — rule-based</a:t>
            </a:r>
            <a:endParaRPr lang="en-US" sz="750" dirty="0"/>
          </a:p>
          <a:p>
            <a:pPr algn="l" marL="342900" indent="-342900">
              <a:lnSpc>
                <a:spcPct val="95000"/>
              </a:lnSpc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and storage are the only recurring cost</a:t>
            </a:r>
            <a:endParaRPr lang="en-US" sz="750" dirty="0"/>
          </a:p>
          <a:p>
            <a:pPr algn="l" marL="342900" indent="-342900">
              <a:lnSpc>
                <a:spcPct val="95000"/>
              </a:lnSpc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tiers cover the full pilot</a:t>
            </a:r>
            <a:endParaRPr lang="en-US" sz="750" dirty="0"/>
          </a:p>
        </p:txBody>
      </p:sp>
      <p:sp>
        <p:nvSpPr>
          <p:cNvPr id="64" name="Shape 60"/>
          <p:cNvSpPr/>
          <p:nvPr/>
        </p:nvSpPr>
        <p:spPr>
          <a:xfrm>
            <a:off x="8174736" y="5559552"/>
            <a:ext cx="3749040" cy="1097280"/>
          </a:xfrm>
          <a:prstGeom prst="roundRect">
            <a:avLst>
              <a:gd name="adj" fmla="val 5000"/>
            </a:avLst>
          </a:prstGeom>
          <a:solidFill>
            <a:srgbClr val="EFE9DE"/>
          </a:solidFill>
          <a:ln w="12700">
            <a:solidFill>
              <a:srgbClr val="A0731F"/>
            </a:solidFill>
            <a:prstDash val="solid"/>
          </a:ln>
        </p:spPr>
      </p:sp>
      <p:sp>
        <p:nvSpPr>
          <p:cNvPr id="65" name="Text 61"/>
          <p:cNvSpPr txBox="1"/>
          <p:nvPr/>
        </p:nvSpPr>
        <p:spPr>
          <a:xfrm>
            <a:off x="8302752" y="562356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8A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Scale-up path</a:t>
            </a:r>
            <a:endParaRPr lang="en-US" sz="1000" dirty="0"/>
          </a:p>
        </p:txBody>
      </p:sp>
      <p:sp>
        <p:nvSpPr>
          <p:cNvPr id="66" name="Text 62"/>
          <p:cNvSpPr txBox="1"/>
          <p:nvPr/>
        </p:nvSpPr>
        <p:spPr>
          <a:xfrm>
            <a:off x="8321040" y="5870448"/>
            <a:ext cx="3456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95000"/>
              </a:lnSpc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20–30 dyads, 12 weeks, one district</a:t>
            </a:r>
            <a:endParaRPr lang="en-US" sz="750" dirty="0"/>
          </a:p>
          <a:p>
            <a:pPr algn="l" marL="342900" indent="-342900">
              <a:lnSpc>
                <a:spcPct val="95000"/>
              </a:lnSpc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ASHA-onboarded cohort across Assam</a:t>
            </a:r>
            <a:endParaRPr lang="en-US" sz="750" dirty="0"/>
          </a:p>
          <a:p>
            <a:pPr algn="l" marL="342900" indent="-342900">
              <a:lnSpc>
                <a:spcPct val="95000"/>
              </a:lnSpc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eight NER states</a:t>
            </a:r>
            <a:endParaRPr lang="en-US" sz="750" dirty="0"/>
          </a:p>
          <a:p>
            <a:pPr algn="l" marL="342900" indent="-342900">
              <a:lnSpc>
                <a:spcPct val="95000"/>
              </a:lnSpc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telemetry schema for researchers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65176"/>
            <a:ext cx="585216" cy="585216"/>
          </a:xfrm>
          <a:prstGeom prst="ellipse">
            <a:avLst/>
          </a:prstGeom>
          <a:solidFill>
            <a:srgbClr val="1F3D2E"/>
          </a:solidFill>
          <a:ln w="12700">
            <a:solidFill>
              <a:srgbClr val="1F3D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26517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E9D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060704" y="237744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REFERENCES</a:t>
            </a:r>
            <a:endParaRPr lang="en-US" sz="2600" dirty="0"/>
          </a:p>
        </p:txBody>
      </p:sp>
      <p:pic>
        <p:nvPicPr>
          <p:cNvPr id="5" name="Image 0" descr="ic_weave_br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35824" y="292608"/>
            <a:ext cx="530352" cy="53035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357616" y="29260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5E5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Overfitters Anonymous</a:t>
            </a:r>
            <a:endParaRPr lang="en-US" sz="1150" dirty="0"/>
          </a:p>
        </p:txBody>
      </p:sp>
      <p:pic>
        <p:nvPicPr>
          <p:cNvPr id="7" name="Image 1" descr="logo_202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146304"/>
            <a:ext cx="1463040" cy="74066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74320" y="960120"/>
            <a:ext cx="6400800" cy="4864608"/>
          </a:xfrm>
          <a:prstGeom prst="roundRect">
            <a:avLst>
              <a:gd name="adj" fmla="val 1128"/>
            </a:avLst>
          </a:prstGeom>
          <a:solidFill>
            <a:srgbClr val="FFFFFF"/>
          </a:solidFill>
          <a:ln w="22225">
            <a:solidFill>
              <a:srgbClr val="1F3D2E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57200" y="1097280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Epidemiology — the burden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566928" y="135331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92000"/>
              </a:lnSpc>
              <a:buSzPct val="100000"/>
              <a:buChar char="•"/>
            </a:pPr>
            <a:r>
              <a:rPr lang="en-US" sz="85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Prevalence of dementia in India: national and state estimates (LASI-DAD), Alzheimer's &amp; Dementia 2023</a:t>
            </a:r>
            <a:pPr algn="l" marL="342900" indent="-342900">
              <a:lnSpc>
                <a:spcPct val="92000"/>
              </a:lnSpc>
              <a:buSzPct val="100000"/>
              <a:buChar char="•"/>
            </a:pPr>
            <a:r>
              <a:rPr lang="en-US" sz="850" u="sng" dirty="0">
                <a:solidFill>
                  <a:srgbClr val="8A241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 pubmed 36637034</a:t>
            </a:r>
            <a:endParaRPr lang="en-US" sz="850" dirty="0"/>
          </a:p>
        </p:txBody>
      </p:sp>
      <p:sp>
        <p:nvSpPr>
          <p:cNvPr id="11" name="Text 7"/>
          <p:cNvSpPr txBox="1"/>
          <p:nvPr/>
        </p:nvSpPr>
        <p:spPr>
          <a:xfrm>
            <a:off x="566928" y="163677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92000"/>
              </a:lnSpc>
              <a:buSzPct val="100000"/>
              <a:buChar char="•"/>
            </a:pPr>
            <a:r>
              <a:rPr lang="en-US" sz="85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10/66 Dementia Research Group — rural prevalence above urban in India</a:t>
            </a:r>
            <a:endParaRPr lang="en-US" sz="85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2039112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cognitive measurement — the method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566928" y="229514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92000"/>
              </a:lnSpc>
              <a:buSzPct val="100000"/>
              <a:buChar char="•"/>
            </a:pPr>
            <a:r>
              <a:rPr lang="en-US" sz="85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clock assessment in a South Asian setting (CARRS, n = 303), npj Dementia</a:t>
            </a:r>
            <a:pPr algn="l" marL="342900" indent="-342900">
              <a:lnSpc>
                <a:spcPct val="92000"/>
              </a:lnSpc>
              <a:buSzPct val="100000"/>
              <a:buChar char="•"/>
            </a:pPr>
            <a:r>
              <a:rPr lang="en-US" sz="850" u="sng" dirty="0">
                <a:solidFill>
                  <a:srgbClr val="8A241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 nature.com/s44400-025-00056-6</a:t>
            </a:r>
            <a:endParaRPr lang="en-US" sz="850" dirty="0"/>
          </a:p>
        </p:txBody>
      </p:sp>
      <p:sp>
        <p:nvSpPr>
          <p:cNvPr id="14" name="Text 10"/>
          <p:cNvSpPr txBox="1"/>
          <p:nvPr/>
        </p:nvSpPr>
        <p:spPr>
          <a:xfrm>
            <a:off x="566928" y="2578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92000"/>
              </a:lnSpc>
              <a:buSzPct val="100000"/>
              <a:buChar char="•"/>
            </a:pPr>
            <a:r>
              <a:rPr lang="en-US" sz="85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Clock Drawing Test — latency features, not the finished drawing, carry the signal</a:t>
            </a:r>
            <a:endParaRPr lang="en-US" sz="850" dirty="0"/>
          </a:p>
        </p:txBody>
      </p:sp>
      <p:sp>
        <p:nvSpPr>
          <p:cNvPr id="15" name="Text 11"/>
          <p:cNvSpPr txBox="1"/>
          <p:nvPr/>
        </p:nvSpPr>
        <p:spPr>
          <a:xfrm>
            <a:off x="566928" y="28620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92000"/>
              </a:lnSpc>
              <a:buSzPct val="100000"/>
              <a:buChar char="•"/>
            </a:pPr>
            <a:r>
              <a:rPr lang="en-US" sz="85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Hero Quest — population-scale cognitive data from a game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457200" y="3264408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evidence — why these four games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566928" y="35204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92000"/>
              </a:lnSpc>
              <a:buSzPct val="100000"/>
              <a:buChar char="•"/>
            </a:pPr>
            <a:r>
              <a:rPr lang="en-US" sz="85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stimulation therapy and serious games in dementia care</a:t>
            </a:r>
            <a:endParaRPr lang="en-US" sz="850" dirty="0"/>
          </a:p>
        </p:txBody>
      </p:sp>
      <p:sp>
        <p:nvSpPr>
          <p:cNvPr id="18" name="Text 14"/>
          <p:cNvSpPr txBox="1"/>
          <p:nvPr/>
        </p:nvSpPr>
        <p:spPr>
          <a:xfrm>
            <a:off x="566928" y="380390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92000"/>
              </a:lnSpc>
              <a:buSzPct val="100000"/>
              <a:buChar char="•"/>
            </a:pPr>
            <a:r>
              <a:rPr lang="en-US" sz="85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Errorless learning and spaced retrieval in memory rehabilitation</a:t>
            </a:r>
            <a:endParaRPr lang="en-US" sz="850" dirty="0"/>
          </a:p>
        </p:txBody>
      </p:sp>
      <p:sp>
        <p:nvSpPr>
          <p:cNvPr id="19" name="Text 15"/>
          <p:cNvSpPr txBox="1"/>
          <p:nvPr/>
        </p:nvSpPr>
        <p:spPr>
          <a:xfrm>
            <a:off x="566928" y="408736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92000"/>
              </a:lnSpc>
              <a:buSzPct val="100000"/>
              <a:buChar char="•"/>
            </a:pPr>
            <a:r>
              <a:rPr lang="en-US" sz="85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Preserved musical memory in dementia — the basis for Dhol Bator</a:t>
            </a:r>
            <a:endParaRPr lang="en-US" sz="850" dirty="0"/>
          </a:p>
        </p:txBody>
      </p:sp>
      <p:sp>
        <p:nvSpPr>
          <p:cNvPr id="20" name="Text 16"/>
          <p:cNvSpPr txBox="1"/>
          <p:nvPr/>
        </p:nvSpPr>
        <p:spPr>
          <a:xfrm>
            <a:off x="457200" y="4489704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Law, policy and precedent — why we do not over-claim</a:t>
            </a:r>
            <a:endParaRPr lang="en-US" sz="1050" dirty="0"/>
          </a:p>
        </p:txBody>
      </p:sp>
      <p:sp>
        <p:nvSpPr>
          <p:cNvPr id="21" name="Text 17"/>
          <p:cNvSpPr txBox="1"/>
          <p:nvPr/>
        </p:nvSpPr>
        <p:spPr>
          <a:xfrm>
            <a:off x="566928" y="474573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92000"/>
              </a:lnSpc>
              <a:buSzPct val="100000"/>
              <a:buChar char="•"/>
            </a:pPr>
            <a:r>
              <a:rPr lang="en-US" sz="85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Personal Data Protection Act 2023 and DPDP Rules 2025, MeitY</a:t>
            </a:r>
            <a:pPr algn="l" marL="342900" indent="-342900">
              <a:lnSpc>
                <a:spcPct val="92000"/>
              </a:lnSpc>
              <a:buSzPct val="100000"/>
              <a:buChar char="•"/>
            </a:pPr>
            <a:r>
              <a:rPr lang="en-US" sz="850" u="sng" dirty="0">
                <a:solidFill>
                  <a:srgbClr val="8A241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 meity.gov.in</a:t>
            </a:r>
            <a:endParaRPr lang="en-US" sz="850" dirty="0"/>
          </a:p>
        </p:txBody>
      </p:sp>
      <p:sp>
        <p:nvSpPr>
          <p:cNvPr id="22" name="Text 18"/>
          <p:cNvSpPr txBox="1"/>
          <p:nvPr/>
        </p:nvSpPr>
        <p:spPr>
          <a:xfrm>
            <a:off x="566928" y="50292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92000"/>
              </a:lnSpc>
              <a:buSzPct val="100000"/>
              <a:buChar char="•"/>
            </a:pPr>
            <a:r>
              <a:rPr lang="en-US" sz="85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FTC v. Lumos Labs (Lumosity) 2016 — human clinical evidence required for cognition claims</a:t>
            </a:r>
            <a:pPr algn="l" marL="342900" indent="-342900">
              <a:lnSpc>
                <a:spcPct val="92000"/>
              </a:lnSpc>
              <a:buSzPct val="100000"/>
              <a:buChar char="•"/>
            </a:pPr>
            <a:r>
              <a:rPr lang="en-US" sz="850" u="sng" dirty="0">
                <a:solidFill>
                  <a:srgbClr val="8A241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 ftc.gov</a:t>
            </a:r>
            <a:endParaRPr lang="en-US" sz="850" dirty="0"/>
          </a:p>
        </p:txBody>
      </p:sp>
      <p:sp>
        <p:nvSpPr>
          <p:cNvPr id="23" name="Text 19"/>
          <p:cNvSpPr txBox="1"/>
          <p:nvPr/>
        </p:nvSpPr>
        <p:spPr>
          <a:xfrm>
            <a:off x="566928" y="531266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92000"/>
              </a:lnSpc>
              <a:buSzPct val="100000"/>
              <a:buChar char="•"/>
            </a:pPr>
            <a:r>
              <a:rPr lang="en-US" sz="85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Bhashini (MeitY) · NPHCE (MoHFW) — the public infrastructure we build on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274320" y="5943600"/>
            <a:ext cx="1536192" cy="731520"/>
          </a:xfrm>
          <a:prstGeom prst="roundRect">
            <a:avLst>
              <a:gd name="adj" fmla="val 7500"/>
            </a:avLst>
          </a:prstGeom>
          <a:solidFill>
            <a:srgbClr val="EFE9DE"/>
          </a:solidFill>
          <a:ln w="12700">
            <a:solidFill>
              <a:srgbClr val="A0731F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329184" y="5998464"/>
            <a:ext cx="1426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A07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8.8 M</a:t>
            </a:r>
            <a:endParaRPr lang="en-US" sz="1600" dirty="0"/>
          </a:p>
        </p:txBody>
      </p:sp>
      <p:sp>
        <p:nvSpPr>
          <p:cNvPr id="26" name="Text 22"/>
          <p:cNvSpPr txBox="1"/>
          <p:nvPr/>
        </p:nvSpPr>
        <p:spPr>
          <a:xfrm>
            <a:off x="329184" y="6327648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Indians 60+ with dementia</a:t>
            </a:r>
            <a:endParaRPr lang="en-US" sz="700" dirty="0"/>
          </a:p>
        </p:txBody>
      </p:sp>
      <p:sp>
        <p:nvSpPr>
          <p:cNvPr id="27" name="Shape 23"/>
          <p:cNvSpPr/>
          <p:nvPr/>
        </p:nvSpPr>
        <p:spPr>
          <a:xfrm>
            <a:off x="1901952" y="5943600"/>
            <a:ext cx="1536192" cy="731520"/>
          </a:xfrm>
          <a:prstGeom prst="roundRect">
            <a:avLst>
              <a:gd name="adj" fmla="val 7500"/>
            </a:avLst>
          </a:prstGeom>
          <a:solidFill>
            <a:srgbClr val="EFE9DE"/>
          </a:solidFill>
          <a:ln w="12700">
            <a:solidFill>
              <a:srgbClr val="A0731F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1956816" y="5998464"/>
            <a:ext cx="1426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A07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7.4 %</a:t>
            </a:r>
            <a:endParaRPr lang="en-US" sz="1600" dirty="0"/>
          </a:p>
        </p:txBody>
      </p:sp>
      <p:sp>
        <p:nvSpPr>
          <p:cNvPr id="29" name="Text 25"/>
          <p:cNvSpPr txBox="1"/>
          <p:nvPr/>
        </p:nvSpPr>
        <p:spPr>
          <a:xfrm>
            <a:off x="1956816" y="6327648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prevalence at 60+</a:t>
            </a:r>
            <a:endParaRPr lang="en-US" sz="700" dirty="0"/>
          </a:p>
        </p:txBody>
      </p:sp>
      <p:sp>
        <p:nvSpPr>
          <p:cNvPr id="30" name="Shape 26"/>
          <p:cNvSpPr/>
          <p:nvPr/>
        </p:nvSpPr>
        <p:spPr>
          <a:xfrm>
            <a:off x="3529584" y="5943600"/>
            <a:ext cx="1536192" cy="731520"/>
          </a:xfrm>
          <a:prstGeom prst="roundRect">
            <a:avLst>
              <a:gd name="adj" fmla="val 7500"/>
            </a:avLst>
          </a:prstGeom>
          <a:solidFill>
            <a:srgbClr val="EFE9DE"/>
          </a:solidFill>
          <a:ln w="12700">
            <a:solidFill>
              <a:srgbClr val="A0731F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3584448" y="5998464"/>
            <a:ext cx="1426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A07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10.6 / 7.5</a:t>
            </a:r>
            <a:endParaRPr lang="en-US" sz="1600" dirty="0"/>
          </a:p>
        </p:txBody>
      </p:sp>
      <p:sp>
        <p:nvSpPr>
          <p:cNvPr id="32" name="Text 28"/>
          <p:cNvSpPr txBox="1"/>
          <p:nvPr/>
        </p:nvSpPr>
        <p:spPr>
          <a:xfrm>
            <a:off x="3584448" y="6327648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vs urban %</a:t>
            </a:r>
            <a:endParaRPr lang="en-US" sz="700" dirty="0"/>
          </a:p>
        </p:txBody>
      </p:sp>
      <p:sp>
        <p:nvSpPr>
          <p:cNvPr id="33" name="Shape 29"/>
          <p:cNvSpPr/>
          <p:nvPr/>
        </p:nvSpPr>
        <p:spPr>
          <a:xfrm>
            <a:off x="5157216" y="5943600"/>
            <a:ext cx="1536192" cy="731520"/>
          </a:xfrm>
          <a:prstGeom prst="roundRect">
            <a:avLst>
              <a:gd name="adj" fmla="val 7500"/>
            </a:avLst>
          </a:prstGeom>
          <a:solidFill>
            <a:srgbClr val="EFE9DE"/>
          </a:solidFill>
          <a:ln w="12700">
            <a:solidFill>
              <a:srgbClr val="A0731F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5212080" y="5998464"/>
            <a:ext cx="1426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A07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99.3 %</a:t>
            </a:r>
            <a:endParaRPr lang="en-US" sz="1600" dirty="0"/>
          </a:p>
        </p:txBody>
      </p:sp>
      <p:sp>
        <p:nvSpPr>
          <p:cNvPr id="35" name="Text 31"/>
          <p:cNvSpPr txBox="1"/>
          <p:nvPr/>
        </p:nvSpPr>
        <p:spPr>
          <a:xfrm>
            <a:off x="5212080" y="6327648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0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 clock tests analysable</a:t>
            </a:r>
            <a:endParaRPr lang="en-US" sz="700" dirty="0"/>
          </a:p>
        </p:txBody>
      </p:sp>
      <p:sp>
        <p:nvSpPr>
          <p:cNvPr id="36" name="Shape 32"/>
          <p:cNvSpPr/>
          <p:nvPr/>
        </p:nvSpPr>
        <p:spPr>
          <a:xfrm>
            <a:off x="6858000" y="1078992"/>
            <a:ext cx="164592" cy="164592"/>
          </a:xfrm>
          <a:prstGeom prst="diamond">
            <a:avLst/>
          </a:prstGeom>
          <a:solidFill>
            <a:srgbClr val="A0731F"/>
          </a:solidFill>
          <a:ln w="6350">
            <a:solidFill>
              <a:srgbClr val="A0731F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7150608" y="960120"/>
            <a:ext cx="4736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UI built by the team</a:t>
            </a:r>
            <a:endParaRPr lang="en-US" sz="1500" dirty="0"/>
          </a:p>
        </p:txBody>
      </p:sp>
      <p:sp>
        <p:nvSpPr>
          <p:cNvPr id="38" name="Shape 34"/>
          <p:cNvSpPr/>
          <p:nvPr/>
        </p:nvSpPr>
        <p:spPr>
          <a:xfrm>
            <a:off x="6903720" y="1444752"/>
            <a:ext cx="2423160" cy="1463040"/>
          </a:xfrm>
          <a:prstGeom prst="roundRect">
            <a:avLst>
              <a:gd name="adj" fmla="val 3750"/>
            </a:avLst>
          </a:prstGeom>
          <a:solidFill>
            <a:srgbClr val="EFE9DE"/>
          </a:solidFill>
          <a:ln w="12700">
            <a:solidFill>
              <a:srgbClr val="5E5142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6976872" y="1517904"/>
            <a:ext cx="2276856" cy="1316736"/>
          </a:xfrm>
          <a:prstGeom prst="roundRect">
            <a:avLst>
              <a:gd name="adj" fmla="val 3472"/>
            </a:avLst>
          </a:prstGeom>
          <a:solidFill>
            <a:srgbClr val="FFFFFF">
              <a:alpha val="0"/>
            </a:srgbClr>
          </a:solidFill>
          <a:ln w="12700">
            <a:solidFill>
              <a:srgbClr val="A0731F"/>
            </a:solidFill>
            <a:prstDash val="dash"/>
          </a:ln>
        </p:spPr>
      </p:sp>
      <p:sp>
        <p:nvSpPr>
          <p:cNvPr id="40" name="Text 36"/>
          <p:cNvSpPr txBox="1"/>
          <p:nvPr/>
        </p:nvSpPr>
        <p:spPr>
          <a:xfrm>
            <a:off x="7031736" y="1947672"/>
            <a:ext cx="216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i="1" dirty="0">
                <a:solidFill>
                  <a:srgbClr val="5E5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home — tap your own photo</a:t>
            </a:r>
            <a:endParaRPr lang="en-US" sz="750" dirty="0"/>
          </a:p>
        </p:txBody>
      </p:sp>
      <p:sp>
        <p:nvSpPr>
          <p:cNvPr id="41" name="Shape 37"/>
          <p:cNvSpPr/>
          <p:nvPr/>
        </p:nvSpPr>
        <p:spPr>
          <a:xfrm>
            <a:off x="9464040" y="1444752"/>
            <a:ext cx="2423160" cy="1463040"/>
          </a:xfrm>
          <a:prstGeom prst="roundRect">
            <a:avLst>
              <a:gd name="adj" fmla="val 3750"/>
            </a:avLst>
          </a:prstGeom>
          <a:solidFill>
            <a:srgbClr val="EFE9DE"/>
          </a:solidFill>
          <a:ln w="12700">
            <a:solidFill>
              <a:srgbClr val="5E5142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9537192" y="1517904"/>
            <a:ext cx="2276856" cy="1316736"/>
          </a:xfrm>
          <a:prstGeom prst="roundRect">
            <a:avLst>
              <a:gd name="adj" fmla="val 3472"/>
            </a:avLst>
          </a:prstGeom>
          <a:solidFill>
            <a:srgbClr val="FFFFFF">
              <a:alpha val="0"/>
            </a:srgbClr>
          </a:solidFill>
          <a:ln w="12700">
            <a:solidFill>
              <a:srgbClr val="A0731F"/>
            </a:solidFill>
            <a:prstDash val="dash"/>
          </a:ln>
        </p:spPr>
      </p:sp>
      <p:sp>
        <p:nvSpPr>
          <p:cNvPr id="43" name="Text 39"/>
          <p:cNvSpPr txBox="1"/>
          <p:nvPr/>
        </p:nvSpPr>
        <p:spPr>
          <a:xfrm>
            <a:off x="9592056" y="1947672"/>
            <a:ext cx="216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i="1" dirty="0">
                <a:solidFill>
                  <a:srgbClr val="5E5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Dhol Bator — rhythm echo</a:t>
            </a:r>
            <a:endParaRPr lang="en-US" sz="750" dirty="0"/>
          </a:p>
        </p:txBody>
      </p:sp>
      <p:sp>
        <p:nvSpPr>
          <p:cNvPr id="44" name="Shape 40"/>
          <p:cNvSpPr/>
          <p:nvPr/>
        </p:nvSpPr>
        <p:spPr>
          <a:xfrm>
            <a:off x="6903720" y="2999232"/>
            <a:ext cx="2423160" cy="1463040"/>
          </a:xfrm>
          <a:prstGeom prst="roundRect">
            <a:avLst>
              <a:gd name="adj" fmla="val 3750"/>
            </a:avLst>
          </a:prstGeom>
          <a:solidFill>
            <a:srgbClr val="EFE9DE"/>
          </a:solidFill>
          <a:ln w="12700">
            <a:solidFill>
              <a:srgbClr val="5E5142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6976872" y="3072384"/>
            <a:ext cx="2276856" cy="1316736"/>
          </a:xfrm>
          <a:prstGeom prst="roundRect">
            <a:avLst>
              <a:gd name="adj" fmla="val 3472"/>
            </a:avLst>
          </a:prstGeom>
          <a:solidFill>
            <a:srgbClr val="FFFFFF">
              <a:alpha val="0"/>
            </a:srgbClr>
          </a:solidFill>
          <a:ln w="12700">
            <a:solidFill>
              <a:srgbClr val="A0731F"/>
            </a:solidFill>
            <a:prstDash val="dash"/>
          </a:ln>
        </p:spPr>
      </p:sp>
      <p:sp>
        <p:nvSpPr>
          <p:cNvPr id="46" name="Text 42"/>
          <p:cNvSpPr txBox="1"/>
          <p:nvPr/>
        </p:nvSpPr>
        <p:spPr>
          <a:xfrm>
            <a:off x="7031736" y="3502152"/>
            <a:ext cx="216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i="1" dirty="0">
                <a:solidFill>
                  <a:srgbClr val="5E5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 trend vs personal baseline</a:t>
            </a:r>
            <a:endParaRPr lang="en-US" sz="750" dirty="0"/>
          </a:p>
        </p:txBody>
      </p:sp>
      <p:sp>
        <p:nvSpPr>
          <p:cNvPr id="47" name="Shape 43"/>
          <p:cNvSpPr/>
          <p:nvPr/>
        </p:nvSpPr>
        <p:spPr>
          <a:xfrm>
            <a:off x="9464040" y="2999232"/>
            <a:ext cx="2423160" cy="1463040"/>
          </a:xfrm>
          <a:prstGeom prst="roundRect">
            <a:avLst>
              <a:gd name="adj" fmla="val 3750"/>
            </a:avLst>
          </a:prstGeom>
          <a:solidFill>
            <a:srgbClr val="EFE9DE"/>
          </a:solidFill>
          <a:ln w="12700">
            <a:solidFill>
              <a:srgbClr val="5E5142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9537192" y="3072384"/>
            <a:ext cx="2276856" cy="1316736"/>
          </a:xfrm>
          <a:prstGeom prst="roundRect">
            <a:avLst>
              <a:gd name="adj" fmla="val 3472"/>
            </a:avLst>
          </a:prstGeom>
          <a:solidFill>
            <a:srgbClr val="FFFFFF">
              <a:alpha val="0"/>
            </a:srgbClr>
          </a:solidFill>
          <a:ln w="12700">
            <a:solidFill>
              <a:srgbClr val="A0731F"/>
            </a:solidFill>
            <a:prstDash val="dash"/>
          </a:ln>
        </p:spPr>
      </p:sp>
      <p:sp>
        <p:nvSpPr>
          <p:cNvPr id="49" name="Text 45"/>
          <p:cNvSpPr txBox="1"/>
          <p:nvPr/>
        </p:nvSpPr>
        <p:spPr>
          <a:xfrm>
            <a:off x="9592056" y="3502152"/>
            <a:ext cx="216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i="1" dirty="0">
                <a:solidFill>
                  <a:srgbClr val="5E5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replay, two months side by side</a:t>
            </a:r>
            <a:endParaRPr lang="en-US" sz="750" dirty="0"/>
          </a:p>
        </p:txBody>
      </p:sp>
      <p:sp>
        <p:nvSpPr>
          <p:cNvPr id="50" name="Shape 46"/>
          <p:cNvSpPr/>
          <p:nvPr/>
        </p:nvSpPr>
        <p:spPr>
          <a:xfrm>
            <a:off x="6858000" y="4690872"/>
            <a:ext cx="164592" cy="164592"/>
          </a:xfrm>
          <a:prstGeom prst="diamond">
            <a:avLst/>
          </a:prstGeom>
          <a:solidFill>
            <a:srgbClr val="A0731F"/>
          </a:solidFill>
          <a:ln w="6350">
            <a:solidFill>
              <a:srgbClr val="A0731F"/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7150608" y="4572000"/>
            <a:ext cx="4736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products — and where we differ</a:t>
            </a:r>
            <a:endParaRPr lang="en-US" sz="1500" dirty="0"/>
          </a:p>
        </p:txBody>
      </p:sp>
      <p:sp>
        <p:nvSpPr>
          <p:cNvPr id="52" name="Text 48"/>
          <p:cNvSpPr txBox="1"/>
          <p:nvPr/>
        </p:nvSpPr>
        <p:spPr>
          <a:xfrm>
            <a:off x="6903720" y="502920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8A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Lumosity — </a:t>
            </a:r>
            <a:pPr algn="l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games, no clinical framing, fined in 2016 for the claim we refuse to make.</a:t>
            </a:r>
            <a:endParaRPr lang="en-US" sz="800" dirty="0"/>
          </a:p>
        </p:txBody>
      </p:sp>
      <p:sp>
        <p:nvSpPr>
          <p:cNvPr id="53" name="Text 49"/>
          <p:cNvSpPr txBox="1"/>
          <p:nvPr/>
        </p:nvSpPr>
        <p:spPr>
          <a:xfrm>
            <a:off x="6903720" y="5422392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8A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Linus Health DCTclock — </a:t>
            </a:r>
            <a:pPr algn="l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FDA-cleared but clinician-administered, licensed, English. We take the method, not the product.</a:t>
            </a:r>
            <a:endParaRPr lang="en-US" sz="800" dirty="0"/>
          </a:p>
        </p:txBody>
      </p:sp>
      <p:sp>
        <p:nvSpPr>
          <p:cNvPr id="54" name="Text 50"/>
          <p:cNvSpPr txBox="1"/>
          <p:nvPr/>
        </p:nvSpPr>
        <p:spPr>
          <a:xfrm>
            <a:off x="6903720" y="5815584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8A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Hero Quest — </a:t>
            </a:r>
            <a:pPr algn="l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 game telemetry is a cognitive marker at scale. A research instrument, online, not care.</a:t>
            </a:r>
            <a:endParaRPr lang="en-US" sz="800" dirty="0"/>
          </a:p>
        </p:txBody>
      </p:sp>
      <p:sp>
        <p:nvSpPr>
          <p:cNvPr id="55" name="Text 51"/>
          <p:cNvSpPr txBox="1"/>
          <p:nvPr/>
        </p:nvSpPr>
        <p:spPr>
          <a:xfrm>
            <a:off x="6903720" y="6208776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8A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 / ARDSI paper programmes — </a:t>
            </a:r>
            <a:pPr algn="l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2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evidence, but facilitator-led and unavailable in any North Eastern language.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Xorai — SIH26003</dc:title>
  <dc:subject>PptxGenJS Presentation</dc:subject>
  <dc:creator>Overfitters Anonymous</dc:creator>
  <cp:lastModifiedBy>Overfitters Anonymous</cp:lastModifiedBy>
  <cp:revision>1</cp:revision>
  <dcterms:created xsi:type="dcterms:W3CDTF">2026-09-10T11:26:28Z</dcterms:created>
  <dcterms:modified xsi:type="dcterms:W3CDTF">2026-09-10T11:26:28Z</dcterms:modified>
</cp:coreProperties>
</file>